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imo Bold" charset="1" panose="020B0704020202020204"/>
      <p:regular r:id="rId19"/>
    </p:embeddedFont>
    <p:embeddedFont>
      <p:font typeface="Bitter" charset="1" panose="02000000000000000000"/>
      <p:regular r:id="rId20"/>
    </p:embeddedFont>
    <p:embeddedFont>
      <p:font typeface="Bitter Bold" charset="1" panose="02000000000000000000"/>
      <p:regular r:id="rId21"/>
    </p:embeddedFont>
    <p:embeddedFont>
      <p:font typeface="Bitter Italics" charset="1" panose="02000000000000000000"/>
      <p:regular r:id="rId24"/>
    </p:embeddedFont>
    <p:embeddedFont>
      <p:font typeface="Consolas" charset="1" panose="020B0609020204030204"/>
      <p:regular r:id="rId27"/>
    </p:embeddedFont>
    <p:embeddedFont>
      <p:font typeface="Amsterdam Four" charset="1" panose="020005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fonts/font24.fntdata" Type="http://schemas.openxmlformats.org/officeDocument/2006/relationships/font"/><Relationship Id="rId25" Target="notesSlides/notesSlide4.xml" Type="http://schemas.openxmlformats.org/officeDocument/2006/relationships/notesSlide"/><Relationship Id="rId26" Target="notesSlides/notesSlide5.xml" Type="http://schemas.openxmlformats.org/officeDocument/2006/relationships/notesSlide"/><Relationship Id="rId27" Target="fonts/font27.fntdata" Type="http://schemas.openxmlformats.org/officeDocument/2006/relationships/font"/><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svg" Type="http://schemas.openxmlformats.org/officeDocument/2006/relationships/image"/><Relationship Id="rId2" Target="../notesSlides/notesSlide6.xml" Type="http://schemas.openxmlformats.org/officeDocument/2006/relationships/notesSlide"/><Relationship Id="rId3" Target="../media/image13.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1012"/>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1D1F"/>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087100" y="0"/>
            <a:ext cx="7200900" cy="10287000"/>
            <a:chOff x="0" y="0"/>
            <a:chExt cx="9601200" cy="13716000"/>
          </a:xfrm>
        </p:grpSpPr>
        <p:sp>
          <p:nvSpPr>
            <p:cNvPr name="Freeform 9" id="9" descr="preencoded.png"/>
            <p:cNvSpPr/>
            <p:nvPr/>
          </p:nvSpPr>
          <p:spPr>
            <a:xfrm flipH="false" flipV="false" rot="0">
              <a:off x="0" y="0"/>
              <a:ext cx="9601200" cy="13716000"/>
            </a:xfrm>
            <a:custGeom>
              <a:avLst/>
              <a:gdLst/>
              <a:ahLst/>
              <a:cxnLst/>
              <a:rect r="r" b="b" t="t" l="l"/>
              <a:pathLst>
                <a:path h="13716000" w="9601200">
                  <a:moveTo>
                    <a:pt x="0" y="0"/>
                  </a:moveTo>
                  <a:lnTo>
                    <a:pt x="9601200" y="0"/>
                  </a:lnTo>
                  <a:lnTo>
                    <a:pt x="96012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822672" y="3053449"/>
            <a:ext cx="9445523" cy="1776412"/>
          </a:xfrm>
          <a:prstGeom prst="rect">
            <a:avLst/>
          </a:prstGeom>
        </p:spPr>
        <p:txBody>
          <a:bodyPr anchor="t" rtlCol="false" tIns="0" lIns="0" bIns="0" rIns="0">
            <a:spAutoFit/>
          </a:bodyPr>
          <a:lstStyle/>
          <a:p>
            <a:pPr algn="l">
              <a:lnSpc>
                <a:spcPts val="6937"/>
              </a:lnSpc>
            </a:pPr>
            <a:r>
              <a:rPr lang="en-US" sz="5562" b="true">
                <a:solidFill>
                  <a:srgbClr val="E1E5CD"/>
                </a:solidFill>
                <a:latin typeface="Arimo Bold"/>
                <a:ea typeface="Arimo Bold"/>
                <a:cs typeface="Arimo Bold"/>
                <a:sym typeface="Arimo Bold"/>
              </a:rPr>
              <a:t>The Future of Autonomous Code Review</a:t>
            </a:r>
          </a:p>
        </p:txBody>
      </p:sp>
      <p:sp>
        <p:nvSpPr>
          <p:cNvPr name="TextBox 11" id="11"/>
          <p:cNvSpPr txBox="true"/>
          <p:nvPr/>
        </p:nvSpPr>
        <p:spPr>
          <a:xfrm rot="0">
            <a:off x="822672" y="5387826"/>
            <a:ext cx="9445523" cy="1248070"/>
          </a:xfrm>
          <a:prstGeom prst="rect">
            <a:avLst/>
          </a:prstGeom>
        </p:spPr>
        <p:txBody>
          <a:bodyPr anchor="t" rtlCol="false" tIns="0" lIns="0" bIns="0" rIns="0">
            <a:spAutoFit/>
          </a:bodyPr>
          <a:lstStyle/>
          <a:p>
            <a:pPr algn="l">
              <a:lnSpc>
                <a:spcPts val="4437"/>
              </a:lnSpc>
            </a:pPr>
            <a:r>
              <a:rPr lang="en-US" sz="2750">
                <a:solidFill>
                  <a:srgbClr val="C2C4B5"/>
                </a:solidFill>
                <a:latin typeface="Bitter"/>
                <a:ea typeface="Bitter"/>
                <a:cs typeface="Bitter"/>
                <a:sym typeface="Bitter"/>
              </a:rPr>
              <a:t>Leveraging Llama 3.3 70B &amp; Groq for Ultra-Fast Code Optimization</a:t>
            </a:r>
          </a:p>
        </p:txBody>
      </p:sp>
      <p:sp>
        <p:nvSpPr>
          <p:cNvPr name="TextBox 12" id="12"/>
          <p:cNvSpPr txBox="true"/>
          <p:nvPr/>
        </p:nvSpPr>
        <p:spPr>
          <a:xfrm rot="0">
            <a:off x="822672" y="7212911"/>
            <a:ext cx="9445523" cy="1342152"/>
          </a:xfrm>
          <a:prstGeom prst="rect">
            <a:avLst/>
          </a:prstGeom>
        </p:spPr>
        <p:txBody>
          <a:bodyPr anchor="t" rtlCol="false" tIns="0" lIns="0" bIns="0" rIns="0">
            <a:spAutoFit/>
          </a:bodyPr>
          <a:lstStyle/>
          <a:p>
            <a:pPr algn="l">
              <a:lnSpc>
                <a:spcPts val="3561"/>
              </a:lnSpc>
            </a:pPr>
            <a:r>
              <a:rPr lang="en-US" sz="2187" b="true">
                <a:solidFill>
                  <a:srgbClr val="C2C4B5"/>
                </a:solidFill>
                <a:latin typeface="Bitter Bold"/>
                <a:ea typeface="Bitter Bold"/>
                <a:cs typeface="Bitter Bold"/>
                <a:sym typeface="Bitter Bold"/>
              </a:rPr>
              <a:t>Team ZeroBugAuthority:</a:t>
            </a:r>
            <a:r>
              <a:rPr lang="en-US" sz="2187">
                <a:solidFill>
                  <a:srgbClr val="C2C4B5"/>
                </a:solidFill>
                <a:latin typeface="Bitter"/>
                <a:ea typeface="Bitter"/>
                <a:cs typeface="Bitter"/>
                <a:sym typeface="Bitter"/>
              </a:rPr>
              <a:t> A. Rishitha • Almisbah • Safura Minhaj </a:t>
            </a:r>
          </a:p>
          <a:p>
            <a:pPr algn="l">
              <a:lnSpc>
                <a:spcPts val="3561"/>
              </a:lnSpc>
            </a:pPr>
            <a:r>
              <a:rPr lang="en-US" sz="2187">
                <a:solidFill>
                  <a:srgbClr val="C2C4B5"/>
                </a:solidFill>
                <a:latin typeface="Bitter"/>
                <a:ea typeface="Bitter"/>
                <a:cs typeface="Bitter"/>
                <a:sym typeface="Bitter"/>
              </a:rPr>
              <a:t>• S.Lakshmi Chandana  • B.Navya</a:t>
            </a:r>
          </a:p>
          <a:p>
            <a:pPr algn="l">
              <a:lnSpc>
                <a:spcPts val="3562"/>
              </a:lnSpc>
            </a:pPr>
          </a:p>
        </p:txBody>
      </p:sp>
      <p:sp>
        <p:nvSpPr>
          <p:cNvPr name="TextBox 13" id="13"/>
          <p:cNvSpPr txBox="true"/>
          <p:nvPr/>
        </p:nvSpPr>
        <p:spPr>
          <a:xfrm rot="0">
            <a:off x="822672" y="1724604"/>
            <a:ext cx="9445523" cy="1248878"/>
          </a:xfrm>
          <a:prstGeom prst="rect">
            <a:avLst/>
          </a:prstGeom>
        </p:spPr>
        <p:txBody>
          <a:bodyPr anchor="t" rtlCol="false" tIns="0" lIns="0" bIns="0" rIns="0">
            <a:spAutoFit/>
          </a:bodyPr>
          <a:lstStyle/>
          <a:p>
            <a:pPr algn="l">
              <a:lnSpc>
                <a:spcPts val="9681"/>
              </a:lnSpc>
            </a:pPr>
            <a:r>
              <a:rPr lang="en-US" sz="7762" b="true">
                <a:solidFill>
                  <a:srgbClr val="E1E5CD"/>
                </a:solidFill>
                <a:latin typeface="Arimo Bold"/>
                <a:ea typeface="Arimo Bold"/>
                <a:cs typeface="Arimo Bold"/>
                <a:sym typeface="Arimo Bold"/>
              </a:rPr>
              <a:t>CodeRefine: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1012"/>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1D1F"/>
            </a:solidFill>
          </p:spPr>
        </p:sp>
      </p:grpSp>
      <p:grpSp>
        <p:nvGrpSpPr>
          <p:cNvPr name="Group 6" id="6"/>
          <p:cNvGrpSpPr/>
          <p:nvPr/>
        </p:nvGrpSpPr>
        <p:grpSpPr>
          <a:xfrm rot="0">
            <a:off x="814235" y="224553"/>
            <a:ext cx="2823348" cy="887288"/>
            <a:chOff x="0" y="0"/>
            <a:chExt cx="3058984" cy="961341"/>
          </a:xfrm>
        </p:grpSpPr>
        <p:sp>
          <p:nvSpPr>
            <p:cNvPr name="Freeform 7" id="7"/>
            <p:cNvSpPr/>
            <p:nvPr/>
          </p:nvSpPr>
          <p:spPr>
            <a:xfrm flipH="false" flipV="false" rot="0">
              <a:off x="0" y="0"/>
              <a:ext cx="3058951" cy="961379"/>
            </a:xfrm>
            <a:custGeom>
              <a:avLst/>
              <a:gdLst/>
              <a:ahLst/>
              <a:cxnLst/>
              <a:rect r="r" b="b" t="t" l="l"/>
              <a:pathLst>
                <a:path h="961379" w="3058951">
                  <a:moveTo>
                    <a:pt x="0" y="71590"/>
                  </a:moveTo>
                  <a:cubicBezTo>
                    <a:pt x="0" y="32163"/>
                    <a:pt x="15208" y="0"/>
                    <a:pt x="33850" y="0"/>
                  </a:cubicBezTo>
                  <a:lnTo>
                    <a:pt x="3025101" y="0"/>
                  </a:lnTo>
                  <a:cubicBezTo>
                    <a:pt x="3043743" y="0"/>
                    <a:pt x="3058951" y="32163"/>
                    <a:pt x="3058951" y="71590"/>
                  </a:cubicBezTo>
                  <a:lnTo>
                    <a:pt x="3058951" y="889855"/>
                  </a:lnTo>
                  <a:cubicBezTo>
                    <a:pt x="3058951" y="929281"/>
                    <a:pt x="3043743" y="961379"/>
                    <a:pt x="3025101" y="961379"/>
                  </a:cubicBezTo>
                  <a:lnTo>
                    <a:pt x="33850" y="961379"/>
                  </a:lnTo>
                  <a:cubicBezTo>
                    <a:pt x="15208" y="961379"/>
                    <a:pt x="0" y="929281"/>
                    <a:pt x="0" y="889855"/>
                  </a:cubicBezTo>
                  <a:close/>
                </a:path>
              </a:pathLst>
            </a:custGeom>
            <a:solidFill>
              <a:srgbClr val="2A2C20"/>
            </a:solidFill>
          </p:spPr>
        </p:sp>
      </p:grpSp>
      <p:sp>
        <p:nvSpPr>
          <p:cNvPr name="Freeform 8" id="8" descr="preencoded.png"/>
          <p:cNvSpPr/>
          <p:nvPr/>
        </p:nvSpPr>
        <p:spPr>
          <a:xfrm flipH="false" flipV="false" rot="0">
            <a:off x="897284" y="602489"/>
            <a:ext cx="131416" cy="131416"/>
          </a:xfrm>
          <a:custGeom>
            <a:avLst/>
            <a:gdLst/>
            <a:ahLst/>
            <a:cxnLst/>
            <a:rect r="r" b="b" t="t" l="l"/>
            <a:pathLst>
              <a:path h="131416" w="131416">
                <a:moveTo>
                  <a:pt x="0" y="0"/>
                </a:moveTo>
                <a:lnTo>
                  <a:pt x="131416" y="0"/>
                </a:lnTo>
                <a:lnTo>
                  <a:pt x="131416" y="131416"/>
                </a:lnTo>
                <a:lnTo>
                  <a:pt x="0" y="131416"/>
                </a:lnTo>
                <a:lnTo>
                  <a:pt x="0" y="0"/>
                </a:lnTo>
                <a:close/>
              </a:path>
            </a:pathLst>
          </a:custGeom>
          <a:blipFill>
            <a:blip r:embed="rId3">
              <a:extLst>
                <a:ext uri="{96DAC541-7B7A-43D3-8B79-37D633B846F1}">
                  <asvg:svgBlip xmlns:asvg="http://schemas.microsoft.com/office/drawing/2016/SVG/main" r:embed="rId4"/>
                </a:ext>
              </a:extLst>
            </a:blip>
            <a:stretch>
              <a:fillRect l="-7139" t="0" r="-7146" b="0"/>
            </a:stretch>
          </a:blipFill>
        </p:spPr>
      </p:sp>
      <p:sp>
        <p:nvSpPr>
          <p:cNvPr name="TextBox 9" id="9"/>
          <p:cNvSpPr txBox="true"/>
          <p:nvPr/>
        </p:nvSpPr>
        <p:spPr>
          <a:xfrm rot="0">
            <a:off x="1028700" y="525882"/>
            <a:ext cx="2523378" cy="275105"/>
          </a:xfrm>
          <a:prstGeom prst="rect">
            <a:avLst/>
          </a:prstGeom>
        </p:spPr>
        <p:txBody>
          <a:bodyPr anchor="t" rtlCol="false" tIns="0" lIns="0" bIns="0" rIns="0">
            <a:spAutoFit/>
          </a:bodyPr>
          <a:lstStyle/>
          <a:p>
            <a:pPr algn="l">
              <a:lnSpc>
                <a:spcPts val="2273"/>
              </a:lnSpc>
            </a:pPr>
            <a:r>
              <a:rPr lang="en-US" sz="1818">
                <a:solidFill>
                  <a:srgbClr val="C2C4B5"/>
                </a:solidFill>
                <a:latin typeface="Bitter"/>
                <a:ea typeface="Bitter"/>
                <a:cs typeface="Bitter"/>
                <a:sym typeface="Bitter"/>
              </a:rPr>
              <a:t>CRITICAL CHALLENGE</a:t>
            </a:r>
          </a:p>
        </p:txBody>
      </p:sp>
      <p:sp>
        <p:nvSpPr>
          <p:cNvPr name="TextBox 10" id="10"/>
          <p:cNvSpPr txBox="true"/>
          <p:nvPr/>
        </p:nvSpPr>
        <p:spPr>
          <a:xfrm rot="0">
            <a:off x="369743" y="1407183"/>
            <a:ext cx="9277826" cy="913541"/>
          </a:xfrm>
          <a:prstGeom prst="rect">
            <a:avLst/>
          </a:prstGeom>
        </p:spPr>
        <p:txBody>
          <a:bodyPr anchor="t" rtlCol="false" tIns="0" lIns="0" bIns="0" rIns="0">
            <a:spAutoFit/>
          </a:bodyPr>
          <a:lstStyle/>
          <a:p>
            <a:pPr algn="l">
              <a:lnSpc>
                <a:spcPts val="7011"/>
              </a:lnSpc>
            </a:pPr>
            <a:r>
              <a:rPr lang="en-US" sz="5587" b="true">
                <a:solidFill>
                  <a:srgbClr val="E1E5CD"/>
                </a:solidFill>
                <a:latin typeface="Arimo Bold"/>
                <a:ea typeface="Arimo Bold"/>
                <a:cs typeface="Arimo Bold"/>
                <a:sym typeface="Arimo Bold"/>
              </a:rPr>
              <a:t>The Developer's Bottleneck</a:t>
            </a:r>
          </a:p>
        </p:txBody>
      </p:sp>
      <p:grpSp>
        <p:nvGrpSpPr>
          <p:cNvPr name="Group 11" id="11"/>
          <p:cNvGrpSpPr/>
          <p:nvPr/>
        </p:nvGrpSpPr>
        <p:grpSpPr>
          <a:xfrm rot="0">
            <a:off x="748527" y="3297136"/>
            <a:ext cx="7231409" cy="4097684"/>
            <a:chOff x="0" y="0"/>
            <a:chExt cx="9641878" cy="5463578"/>
          </a:xfrm>
        </p:grpSpPr>
        <p:sp>
          <p:nvSpPr>
            <p:cNvPr name="Freeform 12" id="12" descr="preencoded.png"/>
            <p:cNvSpPr/>
            <p:nvPr/>
          </p:nvSpPr>
          <p:spPr>
            <a:xfrm flipH="false" flipV="false" rot="0">
              <a:off x="0" y="0"/>
              <a:ext cx="9641840" cy="5463540"/>
            </a:xfrm>
            <a:custGeom>
              <a:avLst/>
              <a:gdLst/>
              <a:ahLst/>
              <a:cxnLst/>
              <a:rect r="r" b="b" t="t" l="l"/>
              <a:pathLst>
                <a:path h="5463540" w="9641840">
                  <a:moveTo>
                    <a:pt x="0" y="0"/>
                  </a:moveTo>
                  <a:lnTo>
                    <a:pt x="9641840" y="0"/>
                  </a:lnTo>
                  <a:lnTo>
                    <a:pt x="9641840" y="5463540"/>
                  </a:lnTo>
                  <a:lnTo>
                    <a:pt x="0" y="5463540"/>
                  </a:lnTo>
                  <a:lnTo>
                    <a:pt x="0" y="0"/>
                  </a:lnTo>
                  <a:close/>
                </a:path>
              </a:pathLst>
            </a:custGeom>
            <a:blipFill>
              <a:blip r:embed="rId5"/>
              <a:stretch>
                <a:fillRect l="-10" t="0" r="-10" b="0"/>
              </a:stretch>
            </a:blipFill>
          </p:spPr>
        </p:sp>
      </p:grpSp>
      <p:grpSp>
        <p:nvGrpSpPr>
          <p:cNvPr name="Group 13" id="13"/>
          <p:cNvGrpSpPr/>
          <p:nvPr/>
        </p:nvGrpSpPr>
        <p:grpSpPr>
          <a:xfrm rot="0">
            <a:off x="9838850" y="760742"/>
            <a:ext cx="3984080" cy="2536394"/>
            <a:chOff x="0" y="0"/>
            <a:chExt cx="5312107" cy="3381859"/>
          </a:xfrm>
        </p:grpSpPr>
        <p:sp>
          <p:nvSpPr>
            <p:cNvPr name="Freeform 14" id="14"/>
            <p:cNvSpPr/>
            <p:nvPr/>
          </p:nvSpPr>
          <p:spPr>
            <a:xfrm flipH="false" flipV="false" rot="0">
              <a:off x="13573" y="23673"/>
              <a:ext cx="5285029" cy="3334537"/>
            </a:xfrm>
            <a:custGeom>
              <a:avLst/>
              <a:gdLst/>
              <a:ahLst/>
              <a:cxnLst/>
              <a:rect r="r" b="b" t="t" l="l"/>
              <a:pathLst>
                <a:path h="3334537" w="5285029">
                  <a:moveTo>
                    <a:pt x="0" y="227258"/>
                  </a:moveTo>
                  <a:cubicBezTo>
                    <a:pt x="0" y="101792"/>
                    <a:pt x="58906" y="0"/>
                    <a:pt x="131522" y="0"/>
                  </a:cubicBezTo>
                  <a:lnTo>
                    <a:pt x="5153507" y="0"/>
                  </a:lnTo>
                  <a:cubicBezTo>
                    <a:pt x="5226123" y="0"/>
                    <a:pt x="5285029" y="101792"/>
                    <a:pt x="5285029" y="227258"/>
                  </a:cubicBezTo>
                  <a:lnTo>
                    <a:pt x="5285029" y="3107279"/>
                  </a:lnTo>
                  <a:cubicBezTo>
                    <a:pt x="5285029" y="3232744"/>
                    <a:pt x="5226123" y="3334537"/>
                    <a:pt x="5153507" y="3334537"/>
                  </a:cubicBezTo>
                  <a:lnTo>
                    <a:pt x="131522" y="3334537"/>
                  </a:lnTo>
                  <a:cubicBezTo>
                    <a:pt x="58906" y="3334537"/>
                    <a:pt x="0" y="3232744"/>
                    <a:pt x="0" y="3107279"/>
                  </a:cubicBezTo>
                  <a:close/>
                </a:path>
              </a:pathLst>
            </a:custGeom>
            <a:solidFill>
              <a:srgbClr val="1C1D1F"/>
            </a:solidFill>
          </p:spPr>
        </p:sp>
        <p:sp>
          <p:nvSpPr>
            <p:cNvPr name="Freeform 15" id="15"/>
            <p:cNvSpPr/>
            <p:nvPr/>
          </p:nvSpPr>
          <p:spPr>
            <a:xfrm flipH="false" flipV="false" rot="0">
              <a:off x="0" y="0"/>
              <a:ext cx="5312171" cy="3381871"/>
            </a:xfrm>
            <a:custGeom>
              <a:avLst/>
              <a:gdLst/>
              <a:ahLst/>
              <a:cxnLst/>
              <a:rect r="r" b="b" t="t" l="l"/>
              <a:pathLst>
                <a:path h="3381871" w="5312171">
                  <a:moveTo>
                    <a:pt x="0" y="250931"/>
                  </a:moveTo>
                  <a:cubicBezTo>
                    <a:pt x="0" y="112209"/>
                    <a:pt x="65014" y="0"/>
                    <a:pt x="145095" y="0"/>
                  </a:cubicBezTo>
                  <a:lnTo>
                    <a:pt x="5167080" y="0"/>
                  </a:lnTo>
                  <a:lnTo>
                    <a:pt x="5167080" y="23673"/>
                  </a:lnTo>
                  <a:lnTo>
                    <a:pt x="5167080" y="0"/>
                  </a:lnTo>
                  <a:cubicBezTo>
                    <a:pt x="5247025" y="0"/>
                    <a:pt x="5312171" y="112209"/>
                    <a:pt x="5312171" y="250931"/>
                  </a:cubicBezTo>
                  <a:lnTo>
                    <a:pt x="5298602" y="250931"/>
                  </a:lnTo>
                  <a:lnTo>
                    <a:pt x="5312171" y="250931"/>
                  </a:lnTo>
                  <a:lnTo>
                    <a:pt x="5312171" y="3130952"/>
                  </a:lnTo>
                  <a:lnTo>
                    <a:pt x="5298602" y="3130952"/>
                  </a:lnTo>
                  <a:lnTo>
                    <a:pt x="5312171" y="3130952"/>
                  </a:lnTo>
                  <a:cubicBezTo>
                    <a:pt x="5312171" y="3269674"/>
                    <a:pt x="5247161" y="3381871"/>
                    <a:pt x="5167080" y="3381871"/>
                  </a:cubicBezTo>
                  <a:lnTo>
                    <a:pt x="5167080" y="3358210"/>
                  </a:lnTo>
                  <a:lnTo>
                    <a:pt x="5167080" y="3381871"/>
                  </a:lnTo>
                  <a:lnTo>
                    <a:pt x="145095" y="3381871"/>
                  </a:lnTo>
                  <a:lnTo>
                    <a:pt x="145095" y="3358210"/>
                  </a:lnTo>
                  <a:lnTo>
                    <a:pt x="145095" y="3381871"/>
                  </a:lnTo>
                  <a:cubicBezTo>
                    <a:pt x="65014" y="3381871"/>
                    <a:pt x="0" y="3269674"/>
                    <a:pt x="0" y="3130952"/>
                  </a:cubicBezTo>
                  <a:lnTo>
                    <a:pt x="0" y="250931"/>
                  </a:lnTo>
                  <a:lnTo>
                    <a:pt x="13573" y="250931"/>
                  </a:lnTo>
                  <a:lnTo>
                    <a:pt x="0" y="250931"/>
                  </a:lnTo>
                  <a:moveTo>
                    <a:pt x="27146" y="250931"/>
                  </a:moveTo>
                  <a:lnTo>
                    <a:pt x="27146" y="3130952"/>
                  </a:lnTo>
                  <a:lnTo>
                    <a:pt x="13573" y="3130952"/>
                  </a:lnTo>
                  <a:lnTo>
                    <a:pt x="27146" y="3130952"/>
                  </a:lnTo>
                  <a:cubicBezTo>
                    <a:pt x="27146" y="3243160"/>
                    <a:pt x="79809" y="3334537"/>
                    <a:pt x="145095" y="3334537"/>
                  </a:cubicBezTo>
                  <a:lnTo>
                    <a:pt x="5167080" y="3334537"/>
                  </a:lnTo>
                  <a:cubicBezTo>
                    <a:pt x="5232366" y="3334537"/>
                    <a:pt x="5285029" y="3243160"/>
                    <a:pt x="5285029" y="3130952"/>
                  </a:cubicBezTo>
                  <a:lnTo>
                    <a:pt x="5285029" y="250931"/>
                  </a:lnTo>
                  <a:cubicBezTo>
                    <a:pt x="5285029" y="138722"/>
                    <a:pt x="5232366" y="47345"/>
                    <a:pt x="5167080" y="47345"/>
                  </a:cubicBezTo>
                  <a:lnTo>
                    <a:pt x="145095" y="47345"/>
                  </a:lnTo>
                  <a:lnTo>
                    <a:pt x="145095" y="23673"/>
                  </a:lnTo>
                  <a:lnTo>
                    <a:pt x="145095" y="47345"/>
                  </a:lnTo>
                  <a:cubicBezTo>
                    <a:pt x="79809" y="47345"/>
                    <a:pt x="27146" y="138722"/>
                    <a:pt x="27146" y="250931"/>
                  </a:cubicBezTo>
                  <a:close/>
                </a:path>
              </a:pathLst>
            </a:custGeom>
            <a:solidFill>
              <a:srgbClr val="545557"/>
            </a:solidFill>
          </p:spPr>
        </p:sp>
      </p:grpSp>
      <p:sp>
        <p:nvSpPr>
          <p:cNvPr name="TextBox 16" id="16"/>
          <p:cNvSpPr txBox="true"/>
          <p:nvPr/>
        </p:nvSpPr>
        <p:spPr>
          <a:xfrm rot="0">
            <a:off x="10026374" y="1079272"/>
            <a:ext cx="3278119" cy="438433"/>
          </a:xfrm>
          <a:prstGeom prst="rect">
            <a:avLst/>
          </a:prstGeom>
        </p:spPr>
        <p:txBody>
          <a:bodyPr anchor="t" rtlCol="false" tIns="0" lIns="0" bIns="0" rIns="0">
            <a:spAutoFit/>
          </a:bodyPr>
          <a:lstStyle/>
          <a:p>
            <a:pPr algn="l">
              <a:lnSpc>
                <a:spcPts val="3191"/>
              </a:lnSpc>
            </a:pPr>
            <a:r>
              <a:rPr lang="en-US" sz="2493" b="true">
                <a:solidFill>
                  <a:srgbClr val="C2C4B5"/>
                </a:solidFill>
                <a:latin typeface="Arimo Bold"/>
                <a:ea typeface="Arimo Bold"/>
                <a:cs typeface="Arimo Bold"/>
                <a:sym typeface="Arimo Bold"/>
              </a:rPr>
              <a:t>Glacial Review Cycles</a:t>
            </a:r>
          </a:p>
        </p:txBody>
      </p:sp>
      <p:sp>
        <p:nvSpPr>
          <p:cNvPr name="TextBox 17" id="17"/>
          <p:cNvSpPr txBox="true"/>
          <p:nvPr/>
        </p:nvSpPr>
        <p:spPr>
          <a:xfrm rot="0">
            <a:off x="10026374" y="1660580"/>
            <a:ext cx="3734049" cy="1301239"/>
          </a:xfrm>
          <a:prstGeom prst="rect">
            <a:avLst/>
          </a:prstGeom>
        </p:spPr>
        <p:txBody>
          <a:bodyPr anchor="t" rtlCol="false" tIns="0" lIns="0" bIns="0" rIns="0">
            <a:spAutoFit/>
          </a:bodyPr>
          <a:lstStyle/>
          <a:p>
            <a:pPr algn="l">
              <a:lnSpc>
                <a:spcPts val="2656"/>
              </a:lnSpc>
            </a:pPr>
            <a:r>
              <a:rPr lang="en-US" sz="2043">
                <a:solidFill>
                  <a:srgbClr val="C2C4B5"/>
                </a:solidFill>
                <a:latin typeface="Bitter"/>
                <a:ea typeface="Bitter"/>
                <a:cs typeface="Bitter"/>
                <a:sym typeface="Bitter"/>
              </a:rPr>
              <a:t>Traditional code reviews take hours or days, blocking deployment pipelines and slowing innovation velocity.</a:t>
            </a:r>
          </a:p>
        </p:txBody>
      </p:sp>
      <p:grpSp>
        <p:nvGrpSpPr>
          <p:cNvPr name="Group 18" id="18"/>
          <p:cNvGrpSpPr/>
          <p:nvPr/>
        </p:nvGrpSpPr>
        <p:grpSpPr>
          <a:xfrm rot="0">
            <a:off x="9833597" y="3483828"/>
            <a:ext cx="3994587" cy="2293092"/>
            <a:chOff x="0" y="0"/>
            <a:chExt cx="5064287" cy="2907152"/>
          </a:xfrm>
        </p:grpSpPr>
        <p:sp>
          <p:nvSpPr>
            <p:cNvPr name="Freeform 19" id="19"/>
            <p:cNvSpPr/>
            <p:nvPr/>
          </p:nvSpPr>
          <p:spPr>
            <a:xfrm flipH="false" flipV="false" rot="0">
              <a:off x="12940" y="17656"/>
              <a:ext cx="5038473" cy="2871911"/>
            </a:xfrm>
            <a:custGeom>
              <a:avLst/>
              <a:gdLst/>
              <a:ahLst/>
              <a:cxnLst/>
              <a:rect r="r" b="b" t="t" l="l"/>
              <a:pathLst>
                <a:path h="2871911" w="5038473">
                  <a:moveTo>
                    <a:pt x="0" y="169497"/>
                  </a:moveTo>
                  <a:cubicBezTo>
                    <a:pt x="0" y="75920"/>
                    <a:pt x="56029" y="0"/>
                    <a:pt x="125127" y="0"/>
                  </a:cubicBezTo>
                  <a:lnTo>
                    <a:pt x="4913345" y="0"/>
                  </a:lnTo>
                  <a:cubicBezTo>
                    <a:pt x="4982443" y="0"/>
                    <a:pt x="5038473" y="75920"/>
                    <a:pt x="5038473" y="169497"/>
                  </a:cubicBezTo>
                  <a:lnTo>
                    <a:pt x="5038473" y="2702414"/>
                  </a:lnTo>
                  <a:cubicBezTo>
                    <a:pt x="5038473" y="2795991"/>
                    <a:pt x="4982443" y="2871911"/>
                    <a:pt x="4913345" y="2871911"/>
                  </a:cubicBezTo>
                  <a:lnTo>
                    <a:pt x="125127" y="2871911"/>
                  </a:lnTo>
                  <a:cubicBezTo>
                    <a:pt x="56029" y="2871911"/>
                    <a:pt x="0" y="2795991"/>
                    <a:pt x="0" y="2702414"/>
                  </a:cubicBezTo>
                  <a:close/>
                </a:path>
              </a:pathLst>
            </a:custGeom>
            <a:solidFill>
              <a:srgbClr val="1C1D1F"/>
            </a:solidFill>
          </p:spPr>
        </p:sp>
        <p:sp>
          <p:nvSpPr>
            <p:cNvPr name="Freeform 20" id="20"/>
            <p:cNvSpPr/>
            <p:nvPr/>
          </p:nvSpPr>
          <p:spPr>
            <a:xfrm flipH="false" flipV="false" rot="0">
              <a:off x="0" y="0"/>
              <a:ext cx="5064351" cy="2907203"/>
            </a:xfrm>
            <a:custGeom>
              <a:avLst/>
              <a:gdLst/>
              <a:ahLst/>
              <a:cxnLst/>
              <a:rect r="r" b="b" t="t" l="l"/>
              <a:pathLst>
                <a:path h="2907203" w="5064351">
                  <a:moveTo>
                    <a:pt x="0" y="187153"/>
                  </a:moveTo>
                  <a:cubicBezTo>
                    <a:pt x="0" y="83689"/>
                    <a:pt x="61852" y="0"/>
                    <a:pt x="138067" y="0"/>
                  </a:cubicBezTo>
                  <a:lnTo>
                    <a:pt x="4926285" y="0"/>
                  </a:lnTo>
                  <a:lnTo>
                    <a:pt x="4926285" y="17656"/>
                  </a:lnTo>
                  <a:lnTo>
                    <a:pt x="4926285" y="0"/>
                  </a:lnTo>
                  <a:cubicBezTo>
                    <a:pt x="5002500" y="0"/>
                    <a:pt x="5064351" y="83689"/>
                    <a:pt x="5064351" y="187153"/>
                  </a:cubicBezTo>
                  <a:lnTo>
                    <a:pt x="5051413" y="187153"/>
                  </a:lnTo>
                  <a:lnTo>
                    <a:pt x="5064351" y="187153"/>
                  </a:lnTo>
                  <a:lnTo>
                    <a:pt x="5064351" y="2720070"/>
                  </a:lnTo>
                  <a:lnTo>
                    <a:pt x="5051413" y="2720070"/>
                  </a:lnTo>
                  <a:lnTo>
                    <a:pt x="5064351" y="2720070"/>
                  </a:lnTo>
                  <a:cubicBezTo>
                    <a:pt x="5064351" y="2823534"/>
                    <a:pt x="5002500" y="2907203"/>
                    <a:pt x="4926285" y="2907203"/>
                  </a:cubicBezTo>
                  <a:lnTo>
                    <a:pt x="4926285" y="2889567"/>
                  </a:lnTo>
                  <a:lnTo>
                    <a:pt x="4926285" y="2907203"/>
                  </a:lnTo>
                  <a:lnTo>
                    <a:pt x="138067" y="2907203"/>
                  </a:lnTo>
                  <a:lnTo>
                    <a:pt x="138067" y="2889567"/>
                  </a:lnTo>
                  <a:lnTo>
                    <a:pt x="138067" y="2907203"/>
                  </a:lnTo>
                  <a:cubicBezTo>
                    <a:pt x="61852" y="2907203"/>
                    <a:pt x="0" y="2823534"/>
                    <a:pt x="0" y="2720070"/>
                  </a:cubicBezTo>
                  <a:lnTo>
                    <a:pt x="0" y="187153"/>
                  </a:lnTo>
                  <a:lnTo>
                    <a:pt x="12940" y="187153"/>
                  </a:lnTo>
                  <a:lnTo>
                    <a:pt x="0" y="187153"/>
                  </a:lnTo>
                  <a:moveTo>
                    <a:pt x="25879" y="187153"/>
                  </a:moveTo>
                  <a:lnTo>
                    <a:pt x="25879" y="2720070"/>
                  </a:lnTo>
                  <a:lnTo>
                    <a:pt x="12940" y="2720070"/>
                  </a:lnTo>
                  <a:lnTo>
                    <a:pt x="25879" y="2720070"/>
                  </a:lnTo>
                  <a:cubicBezTo>
                    <a:pt x="25879" y="2803759"/>
                    <a:pt x="75956" y="2871911"/>
                    <a:pt x="138067" y="2871911"/>
                  </a:cubicBezTo>
                  <a:lnTo>
                    <a:pt x="4926285" y="2871911"/>
                  </a:lnTo>
                  <a:cubicBezTo>
                    <a:pt x="4988266" y="2871911"/>
                    <a:pt x="5038473" y="2803759"/>
                    <a:pt x="5038473" y="2720070"/>
                  </a:cubicBezTo>
                  <a:lnTo>
                    <a:pt x="5038473" y="187153"/>
                  </a:lnTo>
                  <a:cubicBezTo>
                    <a:pt x="5038473" y="103464"/>
                    <a:pt x="4988396" y="35312"/>
                    <a:pt x="4926285" y="35312"/>
                  </a:cubicBezTo>
                  <a:lnTo>
                    <a:pt x="138067" y="35312"/>
                  </a:lnTo>
                  <a:lnTo>
                    <a:pt x="138067" y="17656"/>
                  </a:lnTo>
                  <a:lnTo>
                    <a:pt x="138067" y="35312"/>
                  </a:lnTo>
                  <a:cubicBezTo>
                    <a:pt x="75956" y="35312"/>
                    <a:pt x="25879" y="103464"/>
                    <a:pt x="25879" y="187153"/>
                  </a:cubicBezTo>
                  <a:close/>
                </a:path>
              </a:pathLst>
            </a:custGeom>
            <a:solidFill>
              <a:srgbClr val="545557"/>
            </a:solidFill>
          </p:spPr>
        </p:sp>
      </p:grpSp>
      <p:sp>
        <p:nvSpPr>
          <p:cNvPr name="TextBox 21" id="21"/>
          <p:cNvSpPr txBox="true"/>
          <p:nvPr/>
        </p:nvSpPr>
        <p:spPr>
          <a:xfrm rot="0">
            <a:off x="10076697" y="3510095"/>
            <a:ext cx="3394234" cy="394296"/>
          </a:xfrm>
          <a:prstGeom prst="rect">
            <a:avLst/>
          </a:prstGeom>
        </p:spPr>
        <p:txBody>
          <a:bodyPr anchor="t" rtlCol="false" tIns="0" lIns="0" bIns="0" rIns="0">
            <a:spAutoFit/>
          </a:bodyPr>
          <a:lstStyle/>
          <a:p>
            <a:pPr algn="l">
              <a:lnSpc>
                <a:spcPts val="3124"/>
              </a:lnSpc>
            </a:pPr>
            <a:r>
              <a:rPr lang="en-US" sz="2441" b="true">
                <a:solidFill>
                  <a:srgbClr val="C2C4B5"/>
                </a:solidFill>
                <a:latin typeface="Arimo Bold"/>
                <a:ea typeface="Arimo Bold"/>
                <a:cs typeface="Arimo Bold"/>
                <a:sym typeface="Arimo Bold"/>
              </a:rPr>
              <a:t>Surface-Level Analysis</a:t>
            </a:r>
          </a:p>
        </p:txBody>
      </p:sp>
      <p:sp>
        <p:nvSpPr>
          <p:cNvPr name="TextBox 22" id="22"/>
          <p:cNvSpPr txBox="true"/>
          <p:nvPr/>
        </p:nvSpPr>
        <p:spPr>
          <a:xfrm rot="0">
            <a:off x="10110272" y="4040520"/>
            <a:ext cx="3248014" cy="1622381"/>
          </a:xfrm>
          <a:prstGeom prst="rect">
            <a:avLst/>
          </a:prstGeom>
        </p:spPr>
        <p:txBody>
          <a:bodyPr anchor="t" rtlCol="false" tIns="0" lIns="0" bIns="0" rIns="0">
            <a:spAutoFit/>
          </a:bodyPr>
          <a:lstStyle/>
          <a:p>
            <a:pPr algn="l">
              <a:lnSpc>
                <a:spcPts val="2604"/>
              </a:lnSpc>
            </a:pPr>
            <a:r>
              <a:rPr lang="en-US" sz="2003">
                <a:solidFill>
                  <a:srgbClr val="C2C4B5"/>
                </a:solidFill>
                <a:latin typeface="Bitter"/>
                <a:ea typeface="Bitter"/>
                <a:cs typeface="Bitter"/>
                <a:sym typeface="Bitter"/>
              </a:rPr>
              <a:t>Static linters catch syntax errors but completely miss deep logical flaws, security vulnerabilities, and architectural issues.</a:t>
            </a:r>
          </a:p>
        </p:txBody>
      </p:sp>
      <p:grpSp>
        <p:nvGrpSpPr>
          <p:cNvPr name="Group 23" id="23"/>
          <p:cNvGrpSpPr/>
          <p:nvPr/>
        </p:nvGrpSpPr>
        <p:grpSpPr>
          <a:xfrm rot="0">
            <a:off x="9901358" y="5860255"/>
            <a:ext cx="3926826" cy="2670803"/>
            <a:chOff x="0" y="0"/>
            <a:chExt cx="5057739" cy="3439985"/>
          </a:xfrm>
        </p:grpSpPr>
        <p:sp>
          <p:nvSpPr>
            <p:cNvPr name="Freeform 24" id="24"/>
            <p:cNvSpPr/>
            <p:nvPr/>
          </p:nvSpPr>
          <p:spPr>
            <a:xfrm flipH="false" flipV="false" rot="0">
              <a:off x="12923" y="24080"/>
              <a:ext cx="5031957" cy="3391850"/>
            </a:xfrm>
            <a:custGeom>
              <a:avLst/>
              <a:gdLst/>
              <a:ahLst/>
              <a:cxnLst/>
              <a:rect r="r" b="b" t="t" l="l"/>
              <a:pathLst>
                <a:path h="3391850" w="5031957">
                  <a:moveTo>
                    <a:pt x="0" y="231164"/>
                  </a:moveTo>
                  <a:cubicBezTo>
                    <a:pt x="0" y="103542"/>
                    <a:pt x="56086" y="0"/>
                    <a:pt x="125224" y="0"/>
                  </a:cubicBezTo>
                  <a:lnTo>
                    <a:pt x="4906734" y="0"/>
                  </a:lnTo>
                  <a:cubicBezTo>
                    <a:pt x="4975872" y="0"/>
                    <a:pt x="5031957" y="103542"/>
                    <a:pt x="5031957" y="231164"/>
                  </a:cubicBezTo>
                  <a:lnTo>
                    <a:pt x="5031957" y="3160685"/>
                  </a:lnTo>
                  <a:cubicBezTo>
                    <a:pt x="5031957" y="3288307"/>
                    <a:pt x="4975872" y="3391849"/>
                    <a:pt x="4906734" y="3391849"/>
                  </a:cubicBezTo>
                  <a:lnTo>
                    <a:pt x="125224" y="3391849"/>
                  </a:lnTo>
                  <a:cubicBezTo>
                    <a:pt x="56086" y="3391849"/>
                    <a:pt x="0" y="3288307"/>
                    <a:pt x="0" y="3160685"/>
                  </a:cubicBezTo>
                  <a:close/>
                </a:path>
              </a:pathLst>
            </a:custGeom>
            <a:solidFill>
              <a:srgbClr val="1C1D1F"/>
            </a:solidFill>
          </p:spPr>
        </p:sp>
        <p:sp>
          <p:nvSpPr>
            <p:cNvPr name="Freeform 25" id="25"/>
            <p:cNvSpPr/>
            <p:nvPr/>
          </p:nvSpPr>
          <p:spPr>
            <a:xfrm flipH="false" flipV="false" rot="0">
              <a:off x="0" y="0"/>
              <a:ext cx="5057803" cy="3439998"/>
            </a:xfrm>
            <a:custGeom>
              <a:avLst/>
              <a:gdLst/>
              <a:ahLst/>
              <a:cxnLst/>
              <a:rect r="r" b="b" t="t" l="l"/>
              <a:pathLst>
                <a:path h="3439998" w="5057803">
                  <a:moveTo>
                    <a:pt x="0" y="255244"/>
                  </a:moveTo>
                  <a:cubicBezTo>
                    <a:pt x="0" y="114137"/>
                    <a:pt x="61901" y="0"/>
                    <a:pt x="138147" y="0"/>
                  </a:cubicBezTo>
                  <a:lnTo>
                    <a:pt x="4919657" y="0"/>
                  </a:lnTo>
                  <a:lnTo>
                    <a:pt x="4919657" y="24080"/>
                  </a:lnTo>
                  <a:lnTo>
                    <a:pt x="4919657" y="0"/>
                  </a:lnTo>
                  <a:cubicBezTo>
                    <a:pt x="4995773" y="0"/>
                    <a:pt x="5057803" y="114137"/>
                    <a:pt x="5057803" y="255244"/>
                  </a:cubicBezTo>
                  <a:lnTo>
                    <a:pt x="5044880" y="255244"/>
                  </a:lnTo>
                  <a:lnTo>
                    <a:pt x="5057803" y="255244"/>
                  </a:lnTo>
                  <a:lnTo>
                    <a:pt x="5057803" y="3184765"/>
                  </a:lnTo>
                  <a:lnTo>
                    <a:pt x="5044880" y="3184765"/>
                  </a:lnTo>
                  <a:lnTo>
                    <a:pt x="5057803" y="3184765"/>
                  </a:lnTo>
                  <a:cubicBezTo>
                    <a:pt x="5057803" y="3325872"/>
                    <a:pt x="4995902" y="3439998"/>
                    <a:pt x="4919657" y="3439998"/>
                  </a:cubicBezTo>
                  <a:lnTo>
                    <a:pt x="4919657" y="3415929"/>
                  </a:lnTo>
                  <a:lnTo>
                    <a:pt x="4919657" y="3439998"/>
                  </a:lnTo>
                  <a:lnTo>
                    <a:pt x="138147" y="3439998"/>
                  </a:lnTo>
                  <a:lnTo>
                    <a:pt x="138147" y="3415929"/>
                  </a:lnTo>
                  <a:lnTo>
                    <a:pt x="138147" y="3439998"/>
                  </a:lnTo>
                  <a:cubicBezTo>
                    <a:pt x="61901" y="3439998"/>
                    <a:pt x="0" y="3325872"/>
                    <a:pt x="0" y="3184765"/>
                  </a:cubicBezTo>
                  <a:lnTo>
                    <a:pt x="0" y="255244"/>
                  </a:lnTo>
                  <a:lnTo>
                    <a:pt x="12923" y="255244"/>
                  </a:lnTo>
                  <a:lnTo>
                    <a:pt x="0" y="255244"/>
                  </a:lnTo>
                  <a:moveTo>
                    <a:pt x="25846" y="255244"/>
                  </a:moveTo>
                  <a:lnTo>
                    <a:pt x="25846" y="3184765"/>
                  </a:lnTo>
                  <a:lnTo>
                    <a:pt x="12923" y="3184765"/>
                  </a:lnTo>
                  <a:lnTo>
                    <a:pt x="25846" y="3184765"/>
                  </a:lnTo>
                  <a:cubicBezTo>
                    <a:pt x="25846" y="3298903"/>
                    <a:pt x="75987" y="3391850"/>
                    <a:pt x="138147" y="3391850"/>
                  </a:cubicBezTo>
                  <a:lnTo>
                    <a:pt x="4919657" y="3391850"/>
                  </a:lnTo>
                  <a:cubicBezTo>
                    <a:pt x="4981816" y="3391850"/>
                    <a:pt x="5031958" y="3298903"/>
                    <a:pt x="5031958" y="3184765"/>
                  </a:cubicBezTo>
                  <a:lnTo>
                    <a:pt x="5031958" y="255244"/>
                  </a:lnTo>
                  <a:cubicBezTo>
                    <a:pt x="5031958" y="141106"/>
                    <a:pt x="4981816" y="48159"/>
                    <a:pt x="4919657" y="48159"/>
                  </a:cubicBezTo>
                  <a:lnTo>
                    <a:pt x="138147" y="48159"/>
                  </a:lnTo>
                  <a:lnTo>
                    <a:pt x="138147" y="24080"/>
                  </a:lnTo>
                  <a:lnTo>
                    <a:pt x="138147" y="48159"/>
                  </a:lnTo>
                  <a:cubicBezTo>
                    <a:pt x="75987" y="48159"/>
                    <a:pt x="25846" y="141106"/>
                    <a:pt x="25846" y="255244"/>
                  </a:cubicBezTo>
                  <a:close/>
                </a:path>
              </a:pathLst>
            </a:custGeom>
            <a:solidFill>
              <a:srgbClr val="545557"/>
            </a:solidFill>
          </p:spPr>
        </p:sp>
      </p:grpSp>
      <p:sp>
        <p:nvSpPr>
          <p:cNvPr name="TextBox 26" id="26"/>
          <p:cNvSpPr txBox="true"/>
          <p:nvPr/>
        </p:nvSpPr>
        <p:spPr>
          <a:xfrm rot="0">
            <a:off x="10110272" y="5969403"/>
            <a:ext cx="3327083" cy="412115"/>
          </a:xfrm>
          <a:prstGeom prst="rect">
            <a:avLst/>
          </a:prstGeom>
        </p:spPr>
        <p:txBody>
          <a:bodyPr anchor="t" rtlCol="false" tIns="0" lIns="0" bIns="0" rIns="0">
            <a:spAutoFit/>
          </a:bodyPr>
          <a:lstStyle/>
          <a:p>
            <a:pPr algn="l">
              <a:lnSpc>
                <a:spcPts val="3279"/>
              </a:lnSpc>
            </a:pPr>
            <a:r>
              <a:rPr lang="en-US" sz="2562" b="true">
                <a:solidFill>
                  <a:srgbClr val="C2C4B5"/>
                </a:solidFill>
                <a:latin typeface="Arimo Bold"/>
                <a:ea typeface="Arimo Bold"/>
                <a:cs typeface="Arimo Bold"/>
                <a:sym typeface="Arimo Bold"/>
              </a:rPr>
              <a:t>Security Time Bombs</a:t>
            </a:r>
          </a:p>
        </p:txBody>
      </p:sp>
      <p:sp>
        <p:nvSpPr>
          <p:cNvPr name="TextBox 27" id="27"/>
          <p:cNvSpPr txBox="true"/>
          <p:nvPr/>
        </p:nvSpPr>
        <p:spPr>
          <a:xfrm rot="0">
            <a:off x="10115340" y="6362468"/>
            <a:ext cx="3712845" cy="1659890"/>
          </a:xfrm>
          <a:prstGeom prst="rect">
            <a:avLst/>
          </a:prstGeom>
        </p:spPr>
        <p:txBody>
          <a:bodyPr anchor="t" rtlCol="false" tIns="0" lIns="0" bIns="0" rIns="0">
            <a:spAutoFit/>
          </a:bodyPr>
          <a:lstStyle/>
          <a:p>
            <a:pPr algn="l">
              <a:lnSpc>
                <a:spcPts val="2664"/>
              </a:lnSpc>
            </a:pPr>
            <a:r>
              <a:rPr lang="en-US" sz="2049">
                <a:solidFill>
                  <a:srgbClr val="C2C4B5"/>
                </a:solidFill>
                <a:latin typeface="Bitter"/>
                <a:ea typeface="Bitter"/>
                <a:cs typeface="Bitter"/>
                <a:sym typeface="Bitter"/>
              </a:rPr>
              <a:t>SQL injection attacks, hardcoded API secrets, and authentication bypasses slip through undetected into production.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1012"/>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1D1F"/>
            </a:solidFill>
          </p:spPr>
        </p:sp>
      </p:grpSp>
      <p:grpSp>
        <p:nvGrpSpPr>
          <p:cNvPr name="Group 6" id="6"/>
          <p:cNvGrpSpPr/>
          <p:nvPr/>
        </p:nvGrpSpPr>
        <p:grpSpPr>
          <a:xfrm rot="0">
            <a:off x="1026914" y="397516"/>
            <a:ext cx="1870324" cy="435656"/>
            <a:chOff x="0" y="0"/>
            <a:chExt cx="2853931" cy="664769"/>
          </a:xfrm>
        </p:grpSpPr>
        <p:sp>
          <p:nvSpPr>
            <p:cNvPr name="Freeform 7" id="7"/>
            <p:cNvSpPr/>
            <p:nvPr/>
          </p:nvSpPr>
          <p:spPr>
            <a:xfrm flipH="false" flipV="false" rot="0">
              <a:off x="0" y="0"/>
              <a:ext cx="2853944" cy="664794"/>
            </a:xfrm>
            <a:custGeom>
              <a:avLst/>
              <a:gdLst/>
              <a:ahLst/>
              <a:cxnLst/>
              <a:rect r="r" b="b" t="t" l="l"/>
              <a:pathLst>
                <a:path h="664794" w="2853944">
                  <a:moveTo>
                    <a:pt x="0" y="45906"/>
                  </a:moveTo>
                  <a:cubicBezTo>
                    <a:pt x="0" y="20528"/>
                    <a:pt x="23495" y="0"/>
                    <a:pt x="52324" y="0"/>
                  </a:cubicBezTo>
                  <a:lnTo>
                    <a:pt x="2801620" y="0"/>
                  </a:lnTo>
                  <a:lnTo>
                    <a:pt x="2801620" y="5640"/>
                  </a:lnTo>
                  <a:lnTo>
                    <a:pt x="2801620" y="0"/>
                  </a:lnTo>
                  <a:cubicBezTo>
                    <a:pt x="2830449" y="0"/>
                    <a:pt x="2853944" y="20528"/>
                    <a:pt x="2853944" y="45906"/>
                  </a:cubicBezTo>
                  <a:lnTo>
                    <a:pt x="2853944" y="618885"/>
                  </a:lnTo>
                  <a:lnTo>
                    <a:pt x="2847594" y="618885"/>
                  </a:lnTo>
                  <a:lnTo>
                    <a:pt x="2853944" y="618885"/>
                  </a:lnTo>
                  <a:cubicBezTo>
                    <a:pt x="2853944" y="644263"/>
                    <a:pt x="2830449" y="664794"/>
                    <a:pt x="2801620" y="664794"/>
                  </a:cubicBezTo>
                  <a:lnTo>
                    <a:pt x="2801620" y="659152"/>
                  </a:lnTo>
                  <a:lnTo>
                    <a:pt x="2801620" y="664794"/>
                  </a:lnTo>
                  <a:lnTo>
                    <a:pt x="52324" y="664794"/>
                  </a:lnTo>
                  <a:lnTo>
                    <a:pt x="52324" y="659152"/>
                  </a:lnTo>
                  <a:lnTo>
                    <a:pt x="52324" y="664794"/>
                  </a:lnTo>
                  <a:cubicBezTo>
                    <a:pt x="23495" y="664794"/>
                    <a:pt x="0" y="644263"/>
                    <a:pt x="0" y="618885"/>
                  </a:cubicBezTo>
                  <a:lnTo>
                    <a:pt x="0" y="45906"/>
                  </a:lnTo>
                  <a:lnTo>
                    <a:pt x="6350" y="45906"/>
                  </a:lnTo>
                  <a:lnTo>
                    <a:pt x="0" y="45906"/>
                  </a:lnTo>
                  <a:moveTo>
                    <a:pt x="12700" y="45906"/>
                  </a:moveTo>
                  <a:lnTo>
                    <a:pt x="12700" y="618885"/>
                  </a:lnTo>
                  <a:lnTo>
                    <a:pt x="6350" y="618885"/>
                  </a:lnTo>
                  <a:lnTo>
                    <a:pt x="12700" y="618885"/>
                  </a:lnTo>
                  <a:cubicBezTo>
                    <a:pt x="12700" y="637947"/>
                    <a:pt x="30353" y="653512"/>
                    <a:pt x="52324" y="653512"/>
                  </a:cubicBezTo>
                  <a:lnTo>
                    <a:pt x="2801620" y="653512"/>
                  </a:lnTo>
                  <a:cubicBezTo>
                    <a:pt x="2823591" y="653512"/>
                    <a:pt x="2841244" y="637947"/>
                    <a:pt x="2841244" y="618885"/>
                  </a:cubicBezTo>
                  <a:lnTo>
                    <a:pt x="2841244" y="45906"/>
                  </a:lnTo>
                  <a:lnTo>
                    <a:pt x="2847594" y="45906"/>
                  </a:lnTo>
                  <a:lnTo>
                    <a:pt x="2841244" y="45906"/>
                  </a:lnTo>
                  <a:cubicBezTo>
                    <a:pt x="2841244" y="26844"/>
                    <a:pt x="2823591" y="11279"/>
                    <a:pt x="2801620" y="11279"/>
                  </a:cubicBezTo>
                  <a:lnTo>
                    <a:pt x="52324" y="11279"/>
                  </a:lnTo>
                  <a:lnTo>
                    <a:pt x="52324" y="5640"/>
                  </a:lnTo>
                  <a:lnTo>
                    <a:pt x="52324" y="11279"/>
                  </a:lnTo>
                  <a:cubicBezTo>
                    <a:pt x="30353" y="11279"/>
                    <a:pt x="12700" y="26844"/>
                    <a:pt x="12700" y="45906"/>
                  </a:cubicBezTo>
                  <a:close/>
                </a:path>
              </a:pathLst>
            </a:custGeom>
            <a:solidFill>
              <a:srgbClr val="9FA582"/>
            </a:solidFill>
          </p:spPr>
        </p:sp>
      </p:grpSp>
      <p:sp>
        <p:nvSpPr>
          <p:cNvPr name="Freeform 8" id="8" descr="preencoded.png"/>
          <p:cNvSpPr/>
          <p:nvPr/>
        </p:nvSpPr>
        <p:spPr>
          <a:xfrm flipH="false" flipV="false" rot="0">
            <a:off x="1028700" y="515836"/>
            <a:ext cx="226809" cy="226809"/>
          </a:xfrm>
          <a:custGeom>
            <a:avLst/>
            <a:gdLst/>
            <a:ahLst/>
            <a:cxnLst/>
            <a:rect r="r" b="b" t="t" l="l"/>
            <a:pathLst>
              <a:path h="226809" w="226809">
                <a:moveTo>
                  <a:pt x="0" y="0"/>
                </a:moveTo>
                <a:lnTo>
                  <a:pt x="226809" y="0"/>
                </a:lnTo>
                <a:lnTo>
                  <a:pt x="226809" y="226809"/>
                </a:lnTo>
                <a:lnTo>
                  <a:pt x="0" y="226809"/>
                </a:lnTo>
                <a:lnTo>
                  <a:pt x="0" y="0"/>
                </a:lnTo>
                <a:close/>
              </a:path>
            </a:pathLst>
          </a:custGeom>
          <a:blipFill>
            <a:blip r:embed="rId3">
              <a:extLst>
                <a:ext uri="{96DAC541-7B7A-43D3-8B79-37D633B846F1}">
                  <asvg:svgBlip xmlns:asvg="http://schemas.microsoft.com/office/drawing/2016/SVG/main" r:embed="rId4"/>
                </a:ext>
              </a:extLst>
            </a:blip>
            <a:stretch>
              <a:fillRect l="0" t="-2082" r="0" b="-2087"/>
            </a:stretch>
          </a:blipFill>
        </p:spPr>
      </p:sp>
      <p:sp>
        <p:nvSpPr>
          <p:cNvPr name="TextBox 9" id="9"/>
          <p:cNvSpPr txBox="true"/>
          <p:nvPr/>
        </p:nvSpPr>
        <p:spPr>
          <a:xfrm rot="0">
            <a:off x="1255509" y="449161"/>
            <a:ext cx="1689945" cy="328613"/>
          </a:xfrm>
          <a:prstGeom prst="rect">
            <a:avLst/>
          </a:prstGeom>
        </p:spPr>
        <p:txBody>
          <a:bodyPr anchor="t" rtlCol="false" tIns="0" lIns="0" bIns="0" rIns="0">
            <a:spAutoFit/>
          </a:bodyPr>
          <a:lstStyle/>
          <a:p>
            <a:pPr algn="l">
              <a:lnSpc>
                <a:spcPts val="2812"/>
              </a:lnSpc>
            </a:pPr>
            <a:r>
              <a:rPr lang="en-US" sz="1750">
                <a:solidFill>
                  <a:srgbClr val="9FA582"/>
                </a:solidFill>
                <a:latin typeface="Bitter"/>
                <a:ea typeface="Bitter"/>
                <a:cs typeface="Bitter"/>
                <a:sym typeface="Bitter"/>
              </a:rPr>
              <a:t>INNOVATION</a:t>
            </a:r>
          </a:p>
        </p:txBody>
      </p:sp>
      <p:sp>
        <p:nvSpPr>
          <p:cNvPr name="TextBox 10" id="10"/>
          <p:cNvSpPr txBox="true"/>
          <p:nvPr/>
        </p:nvSpPr>
        <p:spPr>
          <a:xfrm rot="0">
            <a:off x="992238" y="1122168"/>
            <a:ext cx="10142487" cy="943127"/>
          </a:xfrm>
          <a:prstGeom prst="rect">
            <a:avLst/>
          </a:prstGeom>
        </p:spPr>
        <p:txBody>
          <a:bodyPr anchor="t" rtlCol="false" tIns="0" lIns="0" bIns="0" rIns="0">
            <a:spAutoFit/>
          </a:bodyPr>
          <a:lstStyle/>
          <a:p>
            <a:pPr algn="l">
              <a:lnSpc>
                <a:spcPts val="6937"/>
              </a:lnSpc>
            </a:pPr>
            <a:r>
              <a:rPr lang="en-US" sz="5562" b="true">
                <a:solidFill>
                  <a:srgbClr val="E1E5CD"/>
                </a:solidFill>
                <a:latin typeface="Arimo Bold"/>
                <a:ea typeface="Arimo Bold"/>
                <a:cs typeface="Arimo Bold"/>
                <a:sym typeface="Arimo Bold"/>
              </a:rPr>
              <a:t>The Solution: AI Code Guardian</a:t>
            </a:r>
          </a:p>
        </p:txBody>
      </p:sp>
      <p:grpSp>
        <p:nvGrpSpPr>
          <p:cNvPr name="Group 11" id="11"/>
          <p:cNvGrpSpPr/>
          <p:nvPr/>
        </p:nvGrpSpPr>
        <p:grpSpPr>
          <a:xfrm rot="0">
            <a:off x="992238" y="3187598"/>
            <a:ext cx="2209800" cy="2209800"/>
            <a:chOff x="0" y="0"/>
            <a:chExt cx="2946400" cy="2946400"/>
          </a:xfrm>
        </p:grpSpPr>
        <p:sp>
          <p:nvSpPr>
            <p:cNvPr name="Freeform 12" id="12" descr="preencoded.png"/>
            <p:cNvSpPr/>
            <p:nvPr/>
          </p:nvSpPr>
          <p:spPr>
            <a:xfrm flipH="false" flipV="false" rot="0">
              <a:off x="0" y="0"/>
              <a:ext cx="2946400" cy="2946400"/>
            </a:xfrm>
            <a:custGeom>
              <a:avLst/>
              <a:gdLst/>
              <a:ahLst/>
              <a:cxnLst/>
              <a:rect r="r" b="b" t="t" l="l"/>
              <a:pathLst>
                <a:path h="2946400" w="2946400">
                  <a:moveTo>
                    <a:pt x="0" y="0"/>
                  </a:moveTo>
                  <a:lnTo>
                    <a:pt x="2946400" y="0"/>
                  </a:lnTo>
                  <a:lnTo>
                    <a:pt x="2946400" y="2946400"/>
                  </a:lnTo>
                  <a:lnTo>
                    <a:pt x="0" y="2946400"/>
                  </a:lnTo>
                  <a:lnTo>
                    <a:pt x="0" y="0"/>
                  </a:lnTo>
                  <a:close/>
                </a:path>
              </a:pathLst>
            </a:custGeom>
            <a:blipFill>
              <a:blip r:embed="rId5"/>
              <a:stretch>
                <a:fillRect l="0" t="0" r="0" b="0"/>
              </a:stretch>
            </a:blipFill>
          </p:spPr>
        </p:sp>
      </p:grpSp>
      <p:sp>
        <p:nvSpPr>
          <p:cNvPr name="TextBox 13" id="13"/>
          <p:cNvSpPr txBox="true"/>
          <p:nvPr/>
        </p:nvSpPr>
        <p:spPr>
          <a:xfrm rot="0">
            <a:off x="992238" y="5713657"/>
            <a:ext cx="3544043" cy="481012"/>
          </a:xfrm>
          <a:prstGeom prst="rect">
            <a:avLst/>
          </a:prstGeom>
        </p:spPr>
        <p:txBody>
          <a:bodyPr anchor="t" rtlCol="false" tIns="0" lIns="0" bIns="0" rIns="0">
            <a:spAutoFit/>
          </a:bodyPr>
          <a:lstStyle/>
          <a:p>
            <a:pPr algn="l">
              <a:lnSpc>
                <a:spcPts val="3437"/>
              </a:lnSpc>
            </a:pPr>
            <a:r>
              <a:rPr lang="en-US" sz="2750" b="true">
                <a:solidFill>
                  <a:srgbClr val="C2C4B5"/>
                </a:solidFill>
                <a:latin typeface="Arimo Bold"/>
                <a:ea typeface="Arimo Bold"/>
                <a:cs typeface="Arimo Bold"/>
                <a:sym typeface="Arimo Bold"/>
              </a:rPr>
              <a:t>Intent Recognition</a:t>
            </a:r>
          </a:p>
        </p:txBody>
      </p:sp>
      <p:sp>
        <p:nvSpPr>
          <p:cNvPr name="TextBox 14" id="14"/>
          <p:cNvSpPr txBox="true"/>
          <p:nvPr/>
        </p:nvSpPr>
        <p:spPr>
          <a:xfrm rot="0">
            <a:off x="992238" y="6269536"/>
            <a:ext cx="3810000" cy="2363391"/>
          </a:xfrm>
          <a:prstGeom prst="rect">
            <a:avLst/>
          </a:prstGeom>
        </p:spPr>
        <p:txBody>
          <a:bodyPr anchor="t" rtlCol="false" tIns="0" lIns="0" bIns="0" rIns="0">
            <a:spAutoFit/>
          </a:bodyPr>
          <a:lstStyle/>
          <a:p>
            <a:pPr algn="l">
              <a:lnSpc>
                <a:spcPts val="3562"/>
              </a:lnSpc>
            </a:pPr>
            <a:r>
              <a:rPr lang="en-US" sz="2187">
                <a:solidFill>
                  <a:srgbClr val="C2C4B5"/>
                </a:solidFill>
                <a:latin typeface="Bitter"/>
                <a:ea typeface="Bitter"/>
                <a:cs typeface="Bitter"/>
                <a:sym typeface="Bitter"/>
              </a:rPr>
              <a:t>AI agent decodes what developers </a:t>
            </a:r>
            <a:r>
              <a:rPr lang="en-US" sz="2187" i="true">
                <a:solidFill>
                  <a:srgbClr val="C2C4B5"/>
                </a:solidFill>
                <a:latin typeface="Bitter Italics"/>
                <a:ea typeface="Bitter Italics"/>
                <a:cs typeface="Bitter Italics"/>
                <a:sym typeface="Bitter Italics"/>
              </a:rPr>
              <a:t>meant</a:t>
            </a:r>
            <a:r>
              <a:rPr lang="en-US" sz="2187">
                <a:solidFill>
                  <a:srgbClr val="C2C4B5"/>
                </a:solidFill>
                <a:latin typeface="Bitter"/>
                <a:ea typeface="Bitter"/>
                <a:cs typeface="Bitter"/>
                <a:sym typeface="Bitter"/>
              </a:rPr>
              <a:t> to build, not just what they wrote, ensuring alignment with best practices.</a:t>
            </a:r>
          </a:p>
        </p:txBody>
      </p:sp>
      <p:grpSp>
        <p:nvGrpSpPr>
          <p:cNvPr name="Group 15" id="15"/>
          <p:cNvGrpSpPr/>
          <p:nvPr/>
        </p:nvGrpSpPr>
        <p:grpSpPr>
          <a:xfrm rot="0">
            <a:off x="5156597" y="3187598"/>
            <a:ext cx="2209800" cy="2209800"/>
            <a:chOff x="0" y="0"/>
            <a:chExt cx="2946400" cy="2946400"/>
          </a:xfrm>
        </p:grpSpPr>
        <p:sp>
          <p:nvSpPr>
            <p:cNvPr name="Freeform 16" id="16" descr="preencoded.png"/>
            <p:cNvSpPr/>
            <p:nvPr/>
          </p:nvSpPr>
          <p:spPr>
            <a:xfrm flipH="false" flipV="false" rot="0">
              <a:off x="0" y="0"/>
              <a:ext cx="2946400" cy="2946400"/>
            </a:xfrm>
            <a:custGeom>
              <a:avLst/>
              <a:gdLst/>
              <a:ahLst/>
              <a:cxnLst/>
              <a:rect r="r" b="b" t="t" l="l"/>
              <a:pathLst>
                <a:path h="2946400" w="2946400">
                  <a:moveTo>
                    <a:pt x="0" y="0"/>
                  </a:moveTo>
                  <a:lnTo>
                    <a:pt x="2946400" y="0"/>
                  </a:lnTo>
                  <a:lnTo>
                    <a:pt x="2946400" y="2946400"/>
                  </a:lnTo>
                  <a:lnTo>
                    <a:pt x="0" y="2946400"/>
                  </a:lnTo>
                  <a:lnTo>
                    <a:pt x="0" y="0"/>
                  </a:lnTo>
                  <a:close/>
                </a:path>
              </a:pathLst>
            </a:custGeom>
            <a:blipFill>
              <a:blip r:embed="rId6"/>
              <a:stretch>
                <a:fillRect l="0" t="0" r="0" b="0"/>
              </a:stretch>
            </a:blipFill>
          </p:spPr>
        </p:sp>
      </p:grpSp>
      <p:sp>
        <p:nvSpPr>
          <p:cNvPr name="TextBox 17" id="17"/>
          <p:cNvSpPr txBox="true"/>
          <p:nvPr/>
        </p:nvSpPr>
        <p:spPr>
          <a:xfrm rot="0">
            <a:off x="5156597" y="5713657"/>
            <a:ext cx="3704482" cy="481012"/>
          </a:xfrm>
          <a:prstGeom prst="rect">
            <a:avLst/>
          </a:prstGeom>
        </p:spPr>
        <p:txBody>
          <a:bodyPr anchor="t" rtlCol="false" tIns="0" lIns="0" bIns="0" rIns="0">
            <a:spAutoFit/>
          </a:bodyPr>
          <a:lstStyle/>
          <a:p>
            <a:pPr algn="l">
              <a:lnSpc>
                <a:spcPts val="3437"/>
              </a:lnSpc>
            </a:pPr>
            <a:r>
              <a:rPr lang="en-US" sz="2750" b="true">
                <a:solidFill>
                  <a:srgbClr val="C2C4B5"/>
                </a:solidFill>
                <a:latin typeface="Arimo Bold"/>
                <a:ea typeface="Arimo Bold"/>
                <a:cs typeface="Arimo Bold"/>
                <a:sym typeface="Arimo Bold"/>
              </a:rPr>
              <a:t>Logic Rewriting Engine</a:t>
            </a:r>
          </a:p>
        </p:txBody>
      </p:sp>
      <p:sp>
        <p:nvSpPr>
          <p:cNvPr name="TextBox 18" id="18"/>
          <p:cNvSpPr txBox="true"/>
          <p:nvPr/>
        </p:nvSpPr>
        <p:spPr>
          <a:xfrm rot="0">
            <a:off x="5156597" y="6269536"/>
            <a:ext cx="3810152" cy="2363391"/>
          </a:xfrm>
          <a:prstGeom prst="rect">
            <a:avLst/>
          </a:prstGeom>
        </p:spPr>
        <p:txBody>
          <a:bodyPr anchor="t" rtlCol="false" tIns="0" lIns="0" bIns="0" rIns="0">
            <a:spAutoFit/>
          </a:bodyPr>
          <a:lstStyle/>
          <a:p>
            <a:pPr algn="l">
              <a:lnSpc>
                <a:spcPts val="3562"/>
              </a:lnSpc>
            </a:pPr>
            <a:r>
              <a:rPr lang="en-US" sz="2187">
                <a:solidFill>
                  <a:srgbClr val="C2C4B5"/>
                </a:solidFill>
                <a:latin typeface="Bitter"/>
                <a:ea typeface="Bitter"/>
                <a:cs typeface="Bitter"/>
                <a:sym typeface="Bitter"/>
              </a:rPr>
              <a:t>Autonomous refactoring transforms problematic code into optimized, secure implementations without human intervention.</a:t>
            </a:r>
          </a:p>
        </p:txBody>
      </p:sp>
      <p:grpSp>
        <p:nvGrpSpPr>
          <p:cNvPr name="Group 19" id="19"/>
          <p:cNvGrpSpPr/>
          <p:nvPr/>
        </p:nvGrpSpPr>
        <p:grpSpPr>
          <a:xfrm rot="0">
            <a:off x="9321108" y="3187598"/>
            <a:ext cx="2209800" cy="2209800"/>
            <a:chOff x="0" y="0"/>
            <a:chExt cx="2946400" cy="2946400"/>
          </a:xfrm>
        </p:grpSpPr>
        <p:sp>
          <p:nvSpPr>
            <p:cNvPr name="Freeform 20" id="20" descr="preencoded.png"/>
            <p:cNvSpPr/>
            <p:nvPr/>
          </p:nvSpPr>
          <p:spPr>
            <a:xfrm flipH="false" flipV="false" rot="0">
              <a:off x="0" y="0"/>
              <a:ext cx="2946400" cy="2946400"/>
            </a:xfrm>
            <a:custGeom>
              <a:avLst/>
              <a:gdLst/>
              <a:ahLst/>
              <a:cxnLst/>
              <a:rect r="r" b="b" t="t" l="l"/>
              <a:pathLst>
                <a:path h="2946400" w="2946400">
                  <a:moveTo>
                    <a:pt x="0" y="0"/>
                  </a:moveTo>
                  <a:lnTo>
                    <a:pt x="2946400" y="0"/>
                  </a:lnTo>
                  <a:lnTo>
                    <a:pt x="2946400" y="2946400"/>
                  </a:lnTo>
                  <a:lnTo>
                    <a:pt x="0" y="2946400"/>
                  </a:lnTo>
                  <a:lnTo>
                    <a:pt x="0" y="0"/>
                  </a:lnTo>
                  <a:close/>
                </a:path>
              </a:pathLst>
            </a:custGeom>
            <a:blipFill>
              <a:blip r:embed="rId7"/>
              <a:stretch>
                <a:fillRect l="0" t="0" r="0" b="0"/>
              </a:stretch>
            </a:blipFill>
          </p:spPr>
        </p:sp>
      </p:grpSp>
      <p:sp>
        <p:nvSpPr>
          <p:cNvPr name="TextBox 21" id="21"/>
          <p:cNvSpPr txBox="true"/>
          <p:nvPr/>
        </p:nvSpPr>
        <p:spPr>
          <a:xfrm rot="0">
            <a:off x="9321108" y="5713657"/>
            <a:ext cx="3810152" cy="923925"/>
          </a:xfrm>
          <a:prstGeom prst="rect">
            <a:avLst/>
          </a:prstGeom>
        </p:spPr>
        <p:txBody>
          <a:bodyPr anchor="t" rtlCol="false" tIns="0" lIns="0" bIns="0" rIns="0">
            <a:spAutoFit/>
          </a:bodyPr>
          <a:lstStyle/>
          <a:p>
            <a:pPr algn="l">
              <a:lnSpc>
                <a:spcPts val="3437"/>
              </a:lnSpc>
            </a:pPr>
            <a:r>
              <a:rPr lang="en-US" sz="2750" b="true">
                <a:solidFill>
                  <a:srgbClr val="C2C4B5"/>
                </a:solidFill>
                <a:latin typeface="Arimo Bold"/>
                <a:ea typeface="Arimo Bold"/>
                <a:cs typeface="Arimo Bold"/>
                <a:sym typeface="Arimo Bold"/>
              </a:rPr>
              <a:t>Groq Ultra-Low Latency</a:t>
            </a:r>
          </a:p>
        </p:txBody>
      </p:sp>
      <p:sp>
        <p:nvSpPr>
          <p:cNvPr name="TextBox 22" id="22"/>
          <p:cNvSpPr txBox="true"/>
          <p:nvPr/>
        </p:nvSpPr>
        <p:spPr>
          <a:xfrm rot="0">
            <a:off x="9321108" y="6712448"/>
            <a:ext cx="3810152" cy="2363391"/>
          </a:xfrm>
          <a:prstGeom prst="rect">
            <a:avLst/>
          </a:prstGeom>
        </p:spPr>
        <p:txBody>
          <a:bodyPr anchor="t" rtlCol="false" tIns="0" lIns="0" bIns="0" rIns="0">
            <a:spAutoFit/>
          </a:bodyPr>
          <a:lstStyle/>
          <a:p>
            <a:pPr algn="l">
              <a:lnSpc>
                <a:spcPts val="3562"/>
              </a:lnSpc>
            </a:pPr>
            <a:r>
              <a:rPr lang="en-US" sz="2187">
                <a:solidFill>
                  <a:srgbClr val="C2C4B5"/>
                </a:solidFill>
                <a:latin typeface="Bitter"/>
                <a:ea typeface="Bitter"/>
                <a:cs typeface="Bitter"/>
                <a:sym typeface="Bitter"/>
              </a:rPr>
              <a:t>Millisecond-level feedback powered by Groq LPU infrastructure delivers instant insights during active development.</a:t>
            </a:r>
          </a:p>
        </p:txBody>
      </p:sp>
      <p:grpSp>
        <p:nvGrpSpPr>
          <p:cNvPr name="Group 23" id="23"/>
          <p:cNvGrpSpPr/>
          <p:nvPr/>
        </p:nvGrpSpPr>
        <p:grpSpPr>
          <a:xfrm rot="0">
            <a:off x="13485609" y="3187598"/>
            <a:ext cx="2209800" cy="2209800"/>
            <a:chOff x="0" y="0"/>
            <a:chExt cx="2946400" cy="2946400"/>
          </a:xfrm>
        </p:grpSpPr>
        <p:sp>
          <p:nvSpPr>
            <p:cNvPr name="Freeform 24" id="24" descr="preencoded.png"/>
            <p:cNvSpPr/>
            <p:nvPr/>
          </p:nvSpPr>
          <p:spPr>
            <a:xfrm flipH="false" flipV="false" rot="0">
              <a:off x="0" y="0"/>
              <a:ext cx="2946400" cy="2946400"/>
            </a:xfrm>
            <a:custGeom>
              <a:avLst/>
              <a:gdLst/>
              <a:ahLst/>
              <a:cxnLst/>
              <a:rect r="r" b="b" t="t" l="l"/>
              <a:pathLst>
                <a:path h="2946400" w="2946400">
                  <a:moveTo>
                    <a:pt x="0" y="0"/>
                  </a:moveTo>
                  <a:lnTo>
                    <a:pt x="2946400" y="0"/>
                  </a:lnTo>
                  <a:lnTo>
                    <a:pt x="2946400" y="2946400"/>
                  </a:lnTo>
                  <a:lnTo>
                    <a:pt x="0" y="2946400"/>
                  </a:lnTo>
                  <a:lnTo>
                    <a:pt x="0" y="0"/>
                  </a:lnTo>
                  <a:close/>
                </a:path>
              </a:pathLst>
            </a:custGeom>
            <a:blipFill>
              <a:blip r:embed="rId8"/>
              <a:stretch>
                <a:fillRect l="0" t="0" r="0" b="0"/>
              </a:stretch>
            </a:blipFill>
          </p:spPr>
        </p:sp>
      </p:grpSp>
      <p:sp>
        <p:nvSpPr>
          <p:cNvPr name="TextBox 25" id="25"/>
          <p:cNvSpPr txBox="true"/>
          <p:nvPr/>
        </p:nvSpPr>
        <p:spPr>
          <a:xfrm rot="0">
            <a:off x="13485609" y="5713657"/>
            <a:ext cx="3810152" cy="923925"/>
          </a:xfrm>
          <a:prstGeom prst="rect">
            <a:avLst/>
          </a:prstGeom>
        </p:spPr>
        <p:txBody>
          <a:bodyPr anchor="t" rtlCol="false" tIns="0" lIns="0" bIns="0" rIns="0">
            <a:spAutoFit/>
          </a:bodyPr>
          <a:lstStyle/>
          <a:p>
            <a:pPr algn="l">
              <a:lnSpc>
                <a:spcPts val="3437"/>
              </a:lnSpc>
            </a:pPr>
            <a:r>
              <a:rPr lang="en-US" sz="2750" b="true">
                <a:solidFill>
                  <a:srgbClr val="C2C4B5"/>
                </a:solidFill>
                <a:latin typeface="Arimo Bold"/>
                <a:ea typeface="Arimo Bold"/>
                <a:cs typeface="Arimo Bold"/>
                <a:sym typeface="Arimo Bold"/>
              </a:rPr>
              <a:t>Transparent AI Reasoning</a:t>
            </a:r>
          </a:p>
        </p:txBody>
      </p:sp>
      <p:sp>
        <p:nvSpPr>
          <p:cNvPr name="TextBox 26" id="26"/>
          <p:cNvSpPr txBox="true"/>
          <p:nvPr/>
        </p:nvSpPr>
        <p:spPr>
          <a:xfrm rot="0">
            <a:off x="13485609" y="6712448"/>
            <a:ext cx="3810152" cy="2363391"/>
          </a:xfrm>
          <a:prstGeom prst="rect">
            <a:avLst/>
          </a:prstGeom>
        </p:spPr>
        <p:txBody>
          <a:bodyPr anchor="t" rtlCol="false" tIns="0" lIns="0" bIns="0" rIns="0">
            <a:spAutoFit/>
          </a:bodyPr>
          <a:lstStyle/>
          <a:p>
            <a:pPr algn="l">
              <a:lnSpc>
                <a:spcPts val="3562"/>
              </a:lnSpc>
            </a:pPr>
            <a:r>
              <a:rPr lang="en-US" sz="2187">
                <a:solidFill>
                  <a:srgbClr val="C2C4B5"/>
                </a:solidFill>
                <a:latin typeface="Bitter"/>
                <a:ea typeface="Bitter"/>
                <a:cs typeface="Bitter"/>
                <a:sym typeface="Bitter"/>
              </a:rPr>
              <a:t>Thinking Logs expose AST analysis, security pattern detection, and optimization decision-making processes in real-time.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1012"/>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1D1F"/>
            </a:solidFill>
          </p:spPr>
        </p:sp>
      </p:grpSp>
      <p:grpSp>
        <p:nvGrpSpPr>
          <p:cNvPr name="Group 6" id="6"/>
          <p:cNvGrpSpPr/>
          <p:nvPr/>
        </p:nvGrpSpPr>
        <p:grpSpPr>
          <a:xfrm rot="0">
            <a:off x="2603002" y="559003"/>
            <a:ext cx="1406128" cy="316116"/>
            <a:chOff x="0" y="0"/>
            <a:chExt cx="1874838" cy="421488"/>
          </a:xfrm>
        </p:grpSpPr>
        <p:sp>
          <p:nvSpPr>
            <p:cNvPr name="Freeform 7" id="7"/>
            <p:cNvSpPr/>
            <p:nvPr/>
          </p:nvSpPr>
          <p:spPr>
            <a:xfrm flipH="false" flipV="false" rot="0">
              <a:off x="0" y="0"/>
              <a:ext cx="1874901" cy="421513"/>
            </a:xfrm>
            <a:custGeom>
              <a:avLst/>
              <a:gdLst/>
              <a:ahLst/>
              <a:cxnLst/>
              <a:rect r="r" b="b" t="t" l="l"/>
              <a:pathLst>
                <a:path h="421513" w="1874901">
                  <a:moveTo>
                    <a:pt x="0" y="30353"/>
                  </a:moveTo>
                  <a:cubicBezTo>
                    <a:pt x="0" y="13589"/>
                    <a:pt x="13589" y="0"/>
                    <a:pt x="30353" y="0"/>
                  </a:cubicBezTo>
                  <a:lnTo>
                    <a:pt x="1844548" y="0"/>
                  </a:lnTo>
                  <a:cubicBezTo>
                    <a:pt x="1861312" y="0"/>
                    <a:pt x="1874901" y="13589"/>
                    <a:pt x="1874901" y="30353"/>
                  </a:cubicBezTo>
                  <a:lnTo>
                    <a:pt x="1874901" y="391160"/>
                  </a:lnTo>
                  <a:cubicBezTo>
                    <a:pt x="1874901" y="407924"/>
                    <a:pt x="1861312" y="421513"/>
                    <a:pt x="1844548" y="421513"/>
                  </a:cubicBezTo>
                  <a:lnTo>
                    <a:pt x="30353" y="421513"/>
                  </a:lnTo>
                  <a:cubicBezTo>
                    <a:pt x="13589" y="421513"/>
                    <a:pt x="0" y="407924"/>
                    <a:pt x="0" y="391160"/>
                  </a:cubicBezTo>
                  <a:close/>
                </a:path>
              </a:pathLst>
            </a:custGeom>
            <a:solidFill>
              <a:srgbClr val="2A2C20"/>
            </a:solidFill>
          </p:spPr>
        </p:sp>
      </p:grpSp>
      <p:sp>
        <p:nvSpPr>
          <p:cNvPr name="TextBox 8" id="8"/>
          <p:cNvSpPr txBox="true"/>
          <p:nvPr/>
        </p:nvSpPr>
        <p:spPr>
          <a:xfrm rot="0">
            <a:off x="2716711" y="606323"/>
            <a:ext cx="1814360" cy="182562"/>
          </a:xfrm>
          <a:prstGeom prst="rect">
            <a:avLst/>
          </a:prstGeom>
        </p:spPr>
        <p:txBody>
          <a:bodyPr anchor="t" rtlCol="false" tIns="0" lIns="0" bIns="0" rIns="0">
            <a:spAutoFit/>
          </a:bodyPr>
          <a:lstStyle/>
          <a:p>
            <a:pPr algn="l">
              <a:lnSpc>
                <a:spcPts val="1562"/>
              </a:lnSpc>
            </a:pPr>
            <a:r>
              <a:rPr lang="en-US" sz="1187">
                <a:solidFill>
                  <a:srgbClr val="C2C4B5"/>
                </a:solidFill>
                <a:latin typeface="Bitter"/>
                <a:ea typeface="Bitter"/>
                <a:cs typeface="Bitter"/>
                <a:sym typeface="Bitter"/>
              </a:rPr>
              <a:t>SYSTEM DESIGN</a:t>
            </a:r>
          </a:p>
        </p:txBody>
      </p:sp>
      <p:sp>
        <p:nvSpPr>
          <p:cNvPr name="TextBox 9" id="9"/>
          <p:cNvSpPr txBox="true"/>
          <p:nvPr/>
        </p:nvSpPr>
        <p:spPr>
          <a:xfrm rot="0">
            <a:off x="10195820" y="125504"/>
            <a:ext cx="7650123" cy="914013"/>
          </a:xfrm>
          <a:prstGeom prst="rect">
            <a:avLst/>
          </a:prstGeom>
        </p:spPr>
        <p:txBody>
          <a:bodyPr anchor="t" rtlCol="false" tIns="0" lIns="0" bIns="0" rIns="0">
            <a:spAutoFit/>
          </a:bodyPr>
          <a:lstStyle/>
          <a:p>
            <a:pPr algn="l">
              <a:lnSpc>
                <a:spcPts val="7007"/>
              </a:lnSpc>
            </a:pPr>
            <a:r>
              <a:rPr lang="en-US" sz="5587" b="true">
                <a:solidFill>
                  <a:srgbClr val="E1E5CD"/>
                </a:solidFill>
                <a:latin typeface="Arimo Bold"/>
                <a:ea typeface="Arimo Bold"/>
                <a:cs typeface="Arimo Bold"/>
                <a:sym typeface="Arimo Bold"/>
              </a:rPr>
              <a:t>Technical Architecture</a:t>
            </a:r>
          </a:p>
        </p:txBody>
      </p:sp>
      <p:grpSp>
        <p:nvGrpSpPr>
          <p:cNvPr name="Group 10" id="10"/>
          <p:cNvGrpSpPr/>
          <p:nvPr/>
        </p:nvGrpSpPr>
        <p:grpSpPr>
          <a:xfrm rot="0">
            <a:off x="4531071" y="1708252"/>
            <a:ext cx="9225705" cy="7118004"/>
            <a:chOff x="0" y="0"/>
            <a:chExt cx="12300941" cy="9490672"/>
          </a:xfrm>
        </p:grpSpPr>
        <p:sp>
          <p:nvSpPr>
            <p:cNvPr name="Freeform 11" id="11" descr="preencoded.png"/>
            <p:cNvSpPr/>
            <p:nvPr/>
          </p:nvSpPr>
          <p:spPr>
            <a:xfrm flipH="false" flipV="false" rot="0">
              <a:off x="0" y="0"/>
              <a:ext cx="12300966" cy="9490710"/>
            </a:xfrm>
            <a:custGeom>
              <a:avLst/>
              <a:gdLst/>
              <a:ahLst/>
              <a:cxnLst/>
              <a:rect r="r" b="b" t="t" l="l"/>
              <a:pathLst>
                <a:path h="9490710" w="12300966">
                  <a:moveTo>
                    <a:pt x="0" y="0"/>
                  </a:moveTo>
                  <a:lnTo>
                    <a:pt x="12300966" y="0"/>
                  </a:lnTo>
                  <a:lnTo>
                    <a:pt x="12300966" y="9490710"/>
                  </a:lnTo>
                  <a:lnTo>
                    <a:pt x="0" y="9490710"/>
                  </a:lnTo>
                  <a:lnTo>
                    <a:pt x="0" y="0"/>
                  </a:lnTo>
                  <a:close/>
                </a:path>
              </a:pathLst>
            </a:custGeom>
            <a:blipFill>
              <a:blip r:embed="rId3"/>
              <a:stretch>
                <a:fillRect l="-41" t="0" r="-41" b="0"/>
              </a:stretch>
            </a:blipFill>
          </p:spPr>
        </p:sp>
      </p:grpSp>
      <p:sp>
        <p:nvSpPr>
          <p:cNvPr name="TextBox 12" id="12"/>
          <p:cNvSpPr txBox="true"/>
          <p:nvPr/>
        </p:nvSpPr>
        <p:spPr>
          <a:xfrm rot="0">
            <a:off x="8197933" y="4534319"/>
            <a:ext cx="1868198" cy="1101725"/>
          </a:xfrm>
          <a:prstGeom prst="rect">
            <a:avLst/>
          </a:prstGeom>
        </p:spPr>
        <p:txBody>
          <a:bodyPr anchor="t" rtlCol="false" tIns="0" lIns="0" bIns="0" rIns="0">
            <a:spAutoFit/>
          </a:bodyPr>
          <a:lstStyle/>
          <a:p>
            <a:pPr algn="ctr">
              <a:lnSpc>
                <a:spcPts val="2875"/>
              </a:lnSpc>
            </a:pPr>
            <a:r>
              <a:rPr lang="en-US" sz="2312" b="true">
                <a:solidFill>
                  <a:srgbClr val="000000"/>
                </a:solidFill>
                <a:latin typeface="Arimo Bold"/>
                <a:ea typeface="Arimo Bold"/>
                <a:cs typeface="Arimo Bold"/>
                <a:sym typeface="Arimo Bold"/>
              </a:rPr>
              <a:t>Code Analysis Architecture</a:t>
            </a:r>
          </a:p>
        </p:txBody>
      </p:sp>
      <p:sp>
        <p:nvSpPr>
          <p:cNvPr name="TextBox 13" id="13"/>
          <p:cNvSpPr txBox="true"/>
          <p:nvPr/>
        </p:nvSpPr>
        <p:spPr>
          <a:xfrm rot="0">
            <a:off x="9910486" y="7086038"/>
            <a:ext cx="2393718" cy="396497"/>
          </a:xfrm>
          <a:prstGeom prst="rect">
            <a:avLst/>
          </a:prstGeom>
        </p:spPr>
        <p:txBody>
          <a:bodyPr anchor="t" rtlCol="false" tIns="0" lIns="0" bIns="0" rIns="0">
            <a:spAutoFit/>
          </a:bodyPr>
          <a:lstStyle/>
          <a:p>
            <a:pPr algn="ctr">
              <a:lnSpc>
                <a:spcPts val="2875"/>
              </a:lnSpc>
            </a:pPr>
            <a:r>
              <a:rPr lang="en-US" sz="2312" b="true">
                <a:solidFill>
                  <a:srgbClr val="C2C4B5"/>
                </a:solidFill>
                <a:latin typeface="Arimo Bold"/>
                <a:ea typeface="Arimo Bold"/>
                <a:cs typeface="Arimo Bold"/>
                <a:sym typeface="Arimo Bold"/>
              </a:rPr>
              <a:t>FastAPI Backend</a:t>
            </a:r>
          </a:p>
        </p:txBody>
      </p:sp>
      <p:sp>
        <p:nvSpPr>
          <p:cNvPr name="TextBox 14" id="14"/>
          <p:cNvSpPr txBox="true"/>
          <p:nvPr/>
        </p:nvSpPr>
        <p:spPr>
          <a:xfrm rot="0">
            <a:off x="9910486" y="7615761"/>
            <a:ext cx="2393718" cy="462391"/>
          </a:xfrm>
          <a:prstGeom prst="rect">
            <a:avLst/>
          </a:prstGeom>
        </p:spPr>
        <p:txBody>
          <a:bodyPr anchor="t" rtlCol="false" tIns="0" lIns="0" bIns="0" rIns="0">
            <a:spAutoFit/>
          </a:bodyPr>
          <a:lstStyle/>
          <a:p>
            <a:pPr algn="ctr">
              <a:lnSpc>
                <a:spcPts val="1874"/>
              </a:lnSpc>
            </a:pPr>
            <a:r>
              <a:rPr lang="en-US" sz="1812">
                <a:solidFill>
                  <a:srgbClr val="C2C4B5"/>
                </a:solidFill>
                <a:latin typeface="Bitter"/>
                <a:ea typeface="Bitter"/>
                <a:cs typeface="Bitter"/>
                <a:sym typeface="Bitter"/>
              </a:rPr>
              <a:t>Request handling &amp; orchestration</a:t>
            </a:r>
          </a:p>
        </p:txBody>
      </p:sp>
      <p:sp>
        <p:nvSpPr>
          <p:cNvPr name="TextBox 15" id="15"/>
          <p:cNvSpPr txBox="true"/>
          <p:nvPr/>
        </p:nvSpPr>
        <p:spPr>
          <a:xfrm rot="0">
            <a:off x="4913328" y="4547397"/>
            <a:ext cx="2446049" cy="764410"/>
          </a:xfrm>
          <a:prstGeom prst="rect">
            <a:avLst/>
          </a:prstGeom>
        </p:spPr>
        <p:txBody>
          <a:bodyPr anchor="t" rtlCol="false" tIns="0" lIns="0" bIns="0" rIns="0">
            <a:spAutoFit/>
          </a:bodyPr>
          <a:lstStyle/>
          <a:p>
            <a:pPr algn="ctr">
              <a:lnSpc>
                <a:spcPts val="2875"/>
              </a:lnSpc>
            </a:pPr>
            <a:r>
              <a:rPr lang="en-US" sz="2312" b="true">
                <a:solidFill>
                  <a:srgbClr val="C2C4B5"/>
                </a:solidFill>
                <a:latin typeface="Arimo Bold"/>
                <a:ea typeface="Arimo Bold"/>
                <a:cs typeface="Arimo Bold"/>
                <a:sym typeface="Arimo Bold"/>
              </a:rPr>
              <a:t>Interactive Diff Viewer</a:t>
            </a:r>
          </a:p>
        </p:txBody>
      </p:sp>
      <p:sp>
        <p:nvSpPr>
          <p:cNvPr name="TextBox 16" id="16"/>
          <p:cNvSpPr txBox="true"/>
          <p:nvPr/>
        </p:nvSpPr>
        <p:spPr>
          <a:xfrm rot="0">
            <a:off x="4913328" y="5445033"/>
            <a:ext cx="2446049" cy="462391"/>
          </a:xfrm>
          <a:prstGeom prst="rect">
            <a:avLst/>
          </a:prstGeom>
        </p:spPr>
        <p:txBody>
          <a:bodyPr anchor="t" rtlCol="false" tIns="0" lIns="0" bIns="0" rIns="0">
            <a:spAutoFit/>
          </a:bodyPr>
          <a:lstStyle/>
          <a:p>
            <a:pPr algn="ctr">
              <a:lnSpc>
                <a:spcPts val="1874"/>
              </a:lnSpc>
            </a:pPr>
            <a:r>
              <a:rPr lang="en-US" sz="1812">
                <a:solidFill>
                  <a:srgbClr val="C2C4B5"/>
                </a:solidFill>
                <a:latin typeface="Bitter"/>
                <a:ea typeface="Bitter"/>
                <a:cs typeface="Bitter"/>
                <a:sym typeface="Bitter"/>
              </a:rPr>
              <a:t>Code comparison panels</a:t>
            </a:r>
          </a:p>
        </p:txBody>
      </p:sp>
      <p:sp>
        <p:nvSpPr>
          <p:cNvPr name="TextBox 17" id="17"/>
          <p:cNvSpPr txBox="true"/>
          <p:nvPr/>
        </p:nvSpPr>
        <p:spPr>
          <a:xfrm rot="0">
            <a:off x="5920607" y="7024926"/>
            <a:ext cx="2393718" cy="764410"/>
          </a:xfrm>
          <a:prstGeom prst="rect">
            <a:avLst/>
          </a:prstGeom>
        </p:spPr>
        <p:txBody>
          <a:bodyPr anchor="t" rtlCol="false" tIns="0" lIns="0" bIns="0" rIns="0">
            <a:spAutoFit/>
          </a:bodyPr>
          <a:lstStyle/>
          <a:p>
            <a:pPr algn="ctr">
              <a:lnSpc>
                <a:spcPts val="2875"/>
              </a:lnSpc>
            </a:pPr>
            <a:r>
              <a:rPr lang="en-US" sz="2312" b="true">
                <a:solidFill>
                  <a:srgbClr val="C2C4B5"/>
                </a:solidFill>
                <a:latin typeface="Arimo Bold"/>
                <a:ea typeface="Arimo Bold"/>
                <a:cs typeface="Arimo Bold"/>
                <a:sym typeface="Arimo Bold"/>
              </a:rPr>
              <a:t>Tailwind CSS Frontend</a:t>
            </a:r>
          </a:p>
        </p:txBody>
      </p:sp>
      <p:sp>
        <p:nvSpPr>
          <p:cNvPr name="TextBox 18" id="18"/>
          <p:cNvSpPr txBox="true"/>
          <p:nvPr/>
        </p:nvSpPr>
        <p:spPr>
          <a:xfrm rot="0">
            <a:off x="5920607" y="7922562"/>
            <a:ext cx="2393718" cy="216913"/>
          </a:xfrm>
          <a:prstGeom prst="rect">
            <a:avLst/>
          </a:prstGeom>
        </p:spPr>
        <p:txBody>
          <a:bodyPr anchor="t" rtlCol="false" tIns="0" lIns="0" bIns="0" rIns="0">
            <a:spAutoFit/>
          </a:bodyPr>
          <a:lstStyle/>
          <a:p>
            <a:pPr algn="ctr">
              <a:lnSpc>
                <a:spcPts val="1874"/>
              </a:lnSpc>
            </a:pPr>
            <a:r>
              <a:rPr lang="en-US" sz="1812">
                <a:solidFill>
                  <a:srgbClr val="C2C4B5"/>
                </a:solidFill>
                <a:latin typeface="Bitter"/>
                <a:ea typeface="Bitter"/>
                <a:cs typeface="Bitter"/>
                <a:sym typeface="Bitter"/>
              </a:rPr>
              <a:t>Responsive UI styling</a:t>
            </a:r>
          </a:p>
        </p:txBody>
      </p:sp>
      <p:sp>
        <p:nvSpPr>
          <p:cNvPr name="TextBox 19" id="19"/>
          <p:cNvSpPr txBox="true"/>
          <p:nvPr/>
        </p:nvSpPr>
        <p:spPr>
          <a:xfrm rot="0">
            <a:off x="10904687" y="4534319"/>
            <a:ext cx="2446049" cy="764410"/>
          </a:xfrm>
          <a:prstGeom prst="rect">
            <a:avLst/>
          </a:prstGeom>
        </p:spPr>
        <p:txBody>
          <a:bodyPr anchor="t" rtlCol="false" tIns="0" lIns="0" bIns="0" rIns="0">
            <a:spAutoFit/>
          </a:bodyPr>
          <a:lstStyle/>
          <a:p>
            <a:pPr algn="ctr">
              <a:lnSpc>
                <a:spcPts val="2875"/>
              </a:lnSpc>
            </a:pPr>
            <a:r>
              <a:rPr lang="en-US" sz="2312" b="true">
                <a:solidFill>
                  <a:srgbClr val="C2C4B5"/>
                </a:solidFill>
                <a:latin typeface="Arimo Bold"/>
                <a:ea typeface="Arimo Bold"/>
                <a:cs typeface="Arimo Bold"/>
                <a:sym typeface="Arimo Bold"/>
              </a:rPr>
              <a:t>Groq LPU Inference</a:t>
            </a:r>
          </a:p>
        </p:txBody>
      </p:sp>
      <p:sp>
        <p:nvSpPr>
          <p:cNvPr name="TextBox 20" id="20"/>
          <p:cNvSpPr txBox="true"/>
          <p:nvPr/>
        </p:nvSpPr>
        <p:spPr>
          <a:xfrm rot="0">
            <a:off x="10904687" y="5431955"/>
            <a:ext cx="2446049" cy="462391"/>
          </a:xfrm>
          <a:prstGeom prst="rect">
            <a:avLst/>
          </a:prstGeom>
        </p:spPr>
        <p:txBody>
          <a:bodyPr anchor="t" rtlCol="false" tIns="0" lIns="0" bIns="0" rIns="0">
            <a:spAutoFit/>
          </a:bodyPr>
          <a:lstStyle/>
          <a:p>
            <a:pPr algn="ctr">
              <a:lnSpc>
                <a:spcPts val="1874"/>
              </a:lnSpc>
            </a:pPr>
            <a:r>
              <a:rPr lang="en-US" sz="1812">
                <a:solidFill>
                  <a:srgbClr val="C2C4B5"/>
                </a:solidFill>
                <a:latin typeface="Bitter"/>
                <a:ea typeface="Bitter"/>
                <a:cs typeface="Bitter"/>
                <a:sym typeface="Bitter"/>
              </a:rPr>
              <a:t>High-speed model execution</a:t>
            </a:r>
          </a:p>
        </p:txBody>
      </p:sp>
      <p:sp>
        <p:nvSpPr>
          <p:cNvPr name="TextBox 21" id="21"/>
          <p:cNvSpPr txBox="true"/>
          <p:nvPr/>
        </p:nvSpPr>
        <p:spPr>
          <a:xfrm rot="0">
            <a:off x="7856687" y="2265483"/>
            <a:ext cx="2459136" cy="396497"/>
          </a:xfrm>
          <a:prstGeom prst="rect">
            <a:avLst/>
          </a:prstGeom>
        </p:spPr>
        <p:txBody>
          <a:bodyPr anchor="t" rtlCol="false" tIns="0" lIns="0" bIns="0" rIns="0">
            <a:spAutoFit/>
          </a:bodyPr>
          <a:lstStyle/>
          <a:p>
            <a:pPr algn="ctr">
              <a:lnSpc>
                <a:spcPts val="2875"/>
              </a:lnSpc>
            </a:pPr>
            <a:r>
              <a:rPr lang="en-US" sz="2312" b="true">
                <a:solidFill>
                  <a:srgbClr val="C2C4B5"/>
                </a:solidFill>
                <a:latin typeface="Arimo Bold"/>
                <a:ea typeface="Arimo Bold"/>
                <a:cs typeface="Arimo Bold"/>
                <a:sym typeface="Arimo Bold"/>
              </a:rPr>
              <a:t>Llama 3.3 70B</a:t>
            </a:r>
          </a:p>
        </p:txBody>
      </p:sp>
      <p:sp>
        <p:nvSpPr>
          <p:cNvPr name="TextBox 22" id="22"/>
          <p:cNvSpPr txBox="true"/>
          <p:nvPr/>
        </p:nvSpPr>
        <p:spPr>
          <a:xfrm rot="0">
            <a:off x="7856687" y="2795206"/>
            <a:ext cx="2459136" cy="462391"/>
          </a:xfrm>
          <a:prstGeom prst="rect">
            <a:avLst/>
          </a:prstGeom>
        </p:spPr>
        <p:txBody>
          <a:bodyPr anchor="t" rtlCol="false" tIns="0" lIns="0" bIns="0" rIns="0">
            <a:spAutoFit/>
          </a:bodyPr>
          <a:lstStyle/>
          <a:p>
            <a:pPr algn="ctr">
              <a:lnSpc>
                <a:spcPts val="1874"/>
              </a:lnSpc>
            </a:pPr>
            <a:r>
              <a:rPr lang="en-US" sz="1812">
                <a:solidFill>
                  <a:srgbClr val="C2C4B5"/>
                </a:solidFill>
                <a:latin typeface="Bitter"/>
                <a:ea typeface="Bitter"/>
                <a:cs typeface="Bitter"/>
                <a:sym typeface="Bitter"/>
              </a:rPr>
              <a:t>Deep semantic model brain</a:t>
            </a:r>
          </a:p>
        </p:txBody>
      </p:sp>
      <p:sp>
        <p:nvSpPr>
          <p:cNvPr name="TextBox 23" id="23"/>
          <p:cNvSpPr txBox="true"/>
          <p:nvPr/>
        </p:nvSpPr>
        <p:spPr>
          <a:xfrm rot="0">
            <a:off x="2603002" y="8940251"/>
            <a:ext cx="13081845" cy="787603"/>
          </a:xfrm>
          <a:prstGeom prst="rect">
            <a:avLst/>
          </a:prstGeom>
        </p:spPr>
        <p:txBody>
          <a:bodyPr anchor="t" rtlCol="false" tIns="0" lIns="0" bIns="0" rIns="0">
            <a:spAutoFit/>
          </a:bodyPr>
          <a:lstStyle/>
          <a:p>
            <a:pPr algn="l">
              <a:lnSpc>
                <a:spcPts val="1937"/>
              </a:lnSpc>
            </a:pPr>
            <a:r>
              <a:rPr lang="en-US" sz="1437">
                <a:solidFill>
                  <a:srgbClr val="C2C4B5"/>
                </a:solidFill>
                <a:latin typeface="Bitter"/>
                <a:ea typeface="Bitter"/>
                <a:cs typeface="Bitter"/>
                <a:sym typeface="Bitter"/>
              </a:rPr>
              <a:t>Our system leverages cutting-edge AI infrastructure for seamless code analysis. The Llama 3.3 70B model provides deep semantic understanding, while Groq's LPU delivers unprecedented inference speeds. FastAPI handles efficient request routing, and our Tailwind-powered frontend presents actionable insights through an intuitive diff viewer interface.</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1012"/>
            </a:solidFill>
          </p:spPr>
        </p:sp>
      </p:grpSp>
      <p:grpSp>
        <p:nvGrpSpPr>
          <p:cNvPr name="Group 4" id="4"/>
          <p:cNvGrpSpPr/>
          <p:nvPr/>
        </p:nvGrpSpPr>
        <p:grpSpPr>
          <a:xfrm rot="0">
            <a:off x="0" y="-149943"/>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1D1F"/>
            </a:solidFill>
          </p:spPr>
        </p:sp>
      </p:grpSp>
      <p:sp>
        <p:nvSpPr>
          <p:cNvPr name="TextBox 6" id="6"/>
          <p:cNvSpPr txBox="true"/>
          <p:nvPr/>
        </p:nvSpPr>
        <p:spPr>
          <a:xfrm rot="0">
            <a:off x="2104130" y="692678"/>
            <a:ext cx="10108049" cy="911389"/>
          </a:xfrm>
          <a:prstGeom prst="rect">
            <a:avLst/>
          </a:prstGeom>
        </p:spPr>
        <p:txBody>
          <a:bodyPr anchor="t" rtlCol="false" tIns="0" lIns="0" bIns="0" rIns="0">
            <a:spAutoFit/>
          </a:bodyPr>
          <a:lstStyle/>
          <a:p>
            <a:pPr algn="l">
              <a:lnSpc>
                <a:spcPts val="7013"/>
              </a:lnSpc>
            </a:pPr>
            <a:r>
              <a:rPr lang="en-US" sz="5574" b="true">
                <a:solidFill>
                  <a:srgbClr val="E1E5CD"/>
                </a:solidFill>
                <a:latin typeface="Arimo Bold"/>
                <a:ea typeface="Arimo Bold"/>
                <a:cs typeface="Arimo Bold"/>
                <a:sym typeface="Arimo Bold"/>
              </a:rPr>
              <a:t>Demo Highlights &amp; Innovation</a:t>
            </a:r>
          </a:p>
        </p:txBody>
      </p:sp>
      <p:grpSp>
        <p:nvGrpSpPr>
          <p:cNvPr name="Group 7" id="7"/>
          <p:cNvGrpSpPr/>
          <p:nvPr/>
        </p:nvGrpSpPr>
        <p:grpSpPr>
          <a:xfrm rot="0">
            <a:off x="2104130" y="2670867"/>
            <a:ext cx="6939858" cy="4129830"/>
            <a:chOff x="0" y="0"/>
            <a:chExt cx="9253144" cy="5506441"/>
          </a:xfrm>
        </p:grpSpPr>
        <p:sp>
          <p:nvSpPr>
            <p:cNvPr name="Freeform 8" id="8"/>
            <p:cNvSpPr/>
            <p:nvPr/>
          </p:nvSpPr>
          <p:spPr>
            <a:xfrm flipH="false" flipV="false" rot="0">
              <a:off x="0" y="0"/>
              <a:ext cx="9253220" cy="5506466"/>
            </a:xfrm>
            <a:custGeom>
              <a:avLst/>
              <a:gdLst/>
              <a:ahLst/>
              <a:cxnLst/>
              <a:rect r="r" b="b" t="t" l="l"/>
              <a:pathLst>
                <a:path h="5506466" w="9253220">
                  <a:moveTo>
                    <a:pt x="0" y="40005"/>
                  </a:moveTo>
                  <a:cubicBezTo>
                    <a:pt x="0" y="17907"/>
                    <a:pt x="17907" y="0"/>
                    <a:pt x="40005" y="0"/>
                  </a:cubicBezTo>
                  <a:lnTo>
                    <a:pt x="9213215" y="0"/>
                  </a:lnTo>
                  <a:cubicBezTo>
                    <a:pt x="9235313" y="0"/>
                    <a:pt x="9253220" y="17907"/>
                    <a:pt x="9253220" y="40005"/>
                  </a:cubicBezTo>
                  <a:lnTo>
                    <a:pt x="9253220" y="5466461"/>
                  </a:lnTo>
                  <a:cubicBezTo>
                    <a:pt x="9253220" y="5488559"/>
                    <a:pt x="9235313" y="5506466"/>
                    <a:pt x="9213215" y="5506466"/>
                  </a:cubicBezTo>
                  <a:lnTo>
                    <a:pt x="40005" y="5506466"/>
                  </a:lnTo>
                  <a:cubicBezTo>
                    <a:pt x="17907" y="5506466"/>
                    <a:pt x="0" y="5488559"/>
                    <a:pt x="0" y="5466461"/>
                  </a:cubicBezTo>
                  <a:close/>
                </a:path>
              </a:pathLst>
            </a:custGeom>
            <a:solidFill>
              <a:srgbClr val="9FA582"/>
            </a:solidFill>
          </p:spPr>
        </p:sp>
      </p:grpSp>
      <p:sp>
        <p:nvSpPr>
          <p:cNvPr name="TextBox 9" id="9"/>
          <p:cNvSpPr txBox="true"/>
          <p:nvPr/>
        </p:nvSpPr>
        <p:spPr>
          <a:xfrm rot="0">
            <a:off x="2304012" y="2773566"/>
            <a:ext cx="3350866" cy="412852"/>
          </a:xfrm>
          <a:prstGeom prst="rect">
            <a:avLst/>
          </a:prstGeom>
        </p:spPr>
        <p:txBody>
          <a:bodyPr anchor="t" rtlCol="false" tIns="0" lIns="0" bIns="0" rIns="0">
            <a:spAutoFit/>
          </a:bodyPr>
          <a:lstStyle/>
          <a:p>
            <a:pPr algn="l">
              <a:lnSpc>
                <a:spcPts val="2937"/>
              </a:lnSpc>
            </a:pPr>
            <a:r>
              <a:rPr lang="en-US" sz="2312" b="true">
                <a:solidFill>
                  <a:srgbClr val="000000"/>
                </a:solidFill>
                <a:latin typeface="Arimo Bold"/>
                <a:ea typeface="Arimo Bold"/>
                <a:cs typeface="Arimo Bold"/>
                <a:sym typeface="Arimo Bold"/>
              </a:rPr>
              <a:t>Before: Vulnerable Code</a:t>
            </a:r>
          </a:p>
        </p:txBody>
      </p:sp>
      <p:grpSp>
        <p:nvGrpSpPr>
          <p:cNvPr name="Group 10" id="10"/>
          <p:cNvGrpSpPr/>
          <p:nvPr/>
        </p:nvGrpSpPr>
        <p:grpSpPr>
          <a:xfrm rot="0">
            <a:off x="2304012" y="3344913"/>
            <a:ext cx="6540103" cy="3297288"/>
            <a:chOff x="0" y="0"/>
            <a:chExt cx="8720138" cy="4396384"/>
          </a:xfrm>
        </p:grpSpPr>
        <p:sp>
          <p:nvSpPr>
            <p:cNvPr name="Freeform 11" id="11"/>
            <p:cNvSpPr/>
            <p:nvPr/>
          </p:nvSpPr>
          <p:spPr>
            <a:xfrm flipH="false" flipV="false" rot="0">
              <a:off x="0" y="0"/>
              <a:ext cx="8720201" cy="4396486"/>
            </a:xfrm>
            <a:custGeom>
              <a:avLst/>
              <a:gdLst/>
              <a:ahLst/>
              <a:cxnLst/>
              <a:rect r="r" b="b" t="t" l="l"/>
              <a:pathLst>
                <a:path h="4396486" w="8720201">
                  <a:moveTo>
                    <a:pt x="0" y="40005"/>
                  </a:moveTo>
                  <a:cubicBezTo>
                    <a:pt x="0" y="17907"/>
                    <a:pt x="17907" y="0"/>
                    <a:pt x="40005" y="0"/>
                  </a:cubicBezTo>
                  <a:lnTo>
                    <a:pt x="8680196" y="0"/>
                  </a:lnTo>
                  <a:cubicBezTo>
                    <a:pt x="8702294" y="0"/>
                    <a:pt x="8720201" y="17907"/>
                    <a:pt x="8720201" y="40005"/>
                  </a:cubicBezTo>
                  <a:lnTo>
                    <a:pt x="8720201" y="4356481"/>
                  </a:lnTo>
                  <a:cubicBezTo>
                    <a:pt x="8720201" y="4378579"/>
                    <a:pt x="8702294" y="4396486"/>
                    <a:pt x="8680196" y="4396486"/>
                  </a:cubicBezTo>
                  <a:lnTo>
                    <a:pt x="40005" y="4396486"/>
                  </a:lnTo>
                  <a:cubicBezTo>
                    <a:pt x="17907" y="4396486"/>
                    <a:pt x="0" y="4378579"/>
                    <a:pt x="0" y="4356481"/>
                  </a:cubicBezTo>
                  <a:close/>
                </a:path>
              </a:pathLst>
            </a:custGeom>
            <a:solidFill>
              <a:srgbClr val="929875"/>
            </a:solidFill>
          </p:spPr>
        </p:sp>
      </p:grpSp>
      <p:grpSp>
        <p:nvGrpSpPr>
          <p:cNvPr name="Group 12" id="12"/>
          <p:cNvGrpSpPr/>
          <p:nvPr/>
        </p:nvGrpSpPr>
        <p:grpSpPr>
          <a:xfrm rot="0">
            <a:off x="2294039" y="3344913"/>
            <a:ext cx="6560048" cy="3297288"/>
            <a:chOff x="0" y="0"/>
            <a:chExt cx="8746731" cy="4396384"/>
          </a:xfrm>
        </p:grpSpPr>
        <p:sp>
          <p:nvSpPr>
            <p:cNvPr name="Freeform 13" id="13"/>
            <p:cNvSpPr/>
            <p:nvPr/>
          </p:nvSpPr>
          <p:spPr>
            <a:xfrm flipH="false" flipV="false" rot="0">
              <a:off x="0" y="0"/>
              <a:ext cx="8746744" cy="4396486"/>
            </a:xfrm>
            <a:custGeom>
              <a:avLst/>
              <a:gdLst/>
              <a:ahLst/>
              <a:cxnLst/>
              <a:rect r="r" b="b" t="t" l="l"/>
              <a:pathLst>
                <a:path h="4396486" w="8746744">
                  <a:moveTo>
                    <a:pt x="0" y="40005"/>
                  </a:moveTo>
                  <a:cubicBezTo>
                    <a:pt x="0" y="17907"/>
                    <a:pt x="17907" y="0"/>
                    <a:pt x="40005" y="0"/>
                  </a:cubicBezTo>
                  <a:lnTo>
                    <a:pt x="8706739" y="0"/>
                  </a:lnTo>
                  <a:cubicBezTo>
                    <a:pt x="8728837" y="0"/>
                    <a:pt x="8746744" y="17907"/>
                    <a:pt x="8746744" y="40005"/>
                  </a:cubicBezTo>
                  <a:lnTo>
                    <a:pt x="8746744" y="4356481"/>
                  </a:lnTo>
                  <a:cubicBezTo>
                    <a:pt x="8746744" y="4378579"/>
                    <a:pt x="8728837" y="4396486"/>
                    <a:pt x="8706739" y="4396486"/>
                  </a:cubicBezTo>
                  <a:lnTo>
                    <a:pt x="40005" y="4396486"/>
                  </a:lnTo>
                  <a:cubicBezTo>
                    <a:pt x="17907" y="4396486"/>
                    <a:pt x="0" y="4378579"/>
                    <a:pt x="0" y="4356481"/>
                  </a:cubicBezTo>
                  <a:close/>
                </a:path>
              </a:pathLst>
            </a:custGeom>
            <a:solidFill>
              <a:srgbClr val="929875"/>
            </a:solidFill>
          </p:spPr>
        </p:sp>
      </p:grpSp>
      <p:sp>
        <p:nvSpPr>
          <p:cNvPr name="TextBox 14" id="14"/>
          <p:cNvSpPr txBox="true"/>
          <p:nvPr/>
        </p:nvSpPr>
        <p:spPr>
          <a:xfrm rot="0">
            <a:off x="2493912" y="3437630"/>
            <a:ext cx="6160294" cy="3054696"/>
          </a:xfrm>
          <a:prstGeom prst="rect">
            <a:avLst/>
          </a:prstGeom>
        </p:spPr>
        <p:txBody>
          <a:bodyPr anchor="t" rtlCol="false" tIns="0" lIns="0" bIns="0" rIns="0">
            <a:spAutoFit/>
          </a:bodyPr>
          <a:lstStyle/>
          <a:p>
            <a:pPr algn="l">
              <a:lnSpc>
                <a:spcPts val="2125"/>
              </a:lnSpc>
            </a:pPr>
            <a:r>
              <a:rPr lang="en-US" sz="1562">
                <a:solidFill>
                  <a:srgbClr val="000000"/>
                </a:solidFill>
                <a:latin typeface="Consolas"/>
                <a:ea typeface="Consolas"/>
                <a:cs typeface="Consolas"/>
                <a:sym typeface="Consolas"/>
              </a:rPr>
              <a:t>// SQL Injection Risk</a:t>
            </a:r>
          </a:p>
          <a:p>
            <a:pPr algn="l">
              <a:lnSpc>
                <a:spcPts val="2125"/>
              </a:lnSpc>
            </a:pPr>
            <a:r>
              <a:rPr lang="en-US" sz="1562">
                <a:solidFill>
                  <a:srgbClr val="000000"/>
                </a:solidFill>
                <a:latin typeface="Consolas"/>
                <a:ea typeface="Consolas"/>
                <a:cs typeface="Consolas"/>
                <a:sym typeface="Consolas"/>
              </a:rPr>
              <a:t>query = "SELECT * FROM users </a:t>
            </a:r>
          </a:p>
          <a:p>
            <a:pPr algn="l">
              <a:lnSpc>
                <a:spcPts val="2125"/>
              </a:lnSpc>
            </a:pPr>
            <a:r>
              <a:rPr lang="en-US" sz="1562">
                <a:solidFill>
                  <a:srgbClr val="000000"/>
                </a:solidFill>
                <a:latin typeface="Consolas"/>
                <a:ea typeface="Consolas"/>
                <a:cs typeface="Consolas"/>
                <a:sym typeface="Consolas"/>
              </a:rPr>
              <a:t>WHERE id=" + userId;</a:t>
            </a:r>
          </a:p>
          <a:p>
            <a:pPr algn="l">
              <a:lnSpc>
                <a:spcPts val="2125"/>
              </a:lnSpc>
            </a:pPr>
          </a:p>
          <a:p>
            <a:pPr algn="l">
              <a:lnSpc>
                <a:spcPts val="2125"/>
              </a:lnSpc>
            </a:pPr>
            <a:r>
              <a:rPr lang="en-US" sz="1562">
                <a:solidFill>
                  <a:srgbClr val="000000"/>
                </a:solidFill>
                <a:latin typeface="Consolas"/>
                <a:ea typeface="Consolas"/>
                <a:cs typeface="Consolas"/>
                <a:sym typeface="Consolas"/>
              </a:rPr>
              <a:t>// Hardcoded Secret</a:t>
            </a:r>
          </a:p>
          <a:p>
            <a:pPr algn="l">
              <a:lnSpc>
                <a:spcPts val="2125"/>
              </a:lnSpc>
            </a:pPr>
            <a:r>
              <a:rPr lang="en-US" sz="1562">
                <a:solidFill>
                  <a:srgbClr val="000000"/>
                </a:solidFill>
                <a:latin typeface="Consolas"/>
                <a:ea typeface="Consolas"/>
                <a:cs typeface="Consolas"/>
                <a:sym typeface="Consolas"/>
              </a:rPr>
              <a:t>apiKey = "sk_live_abc123";</a:t>
            </a:r>
          </a:p>
          <a:p>
            <a:pPr algn="l">
              <a:lnSpc>
                <a:spcPts val="2125"/>
              </a:lnSpc>
            </a:pPr>
          </a:p>
          <a:p>
            <a:pPr algn="l">
              <a:lnSpc>
                <a:spcPts val="2125"/>
              </a:lnSpc>
            </a:pPr>
            <a:r>
              <a:rPr lang="en-US" sz="1562">
                <a:solidFill>
                  <a:srgbClr val="000000"/>
                </a:solidFill>
                <a:latin typeface="Consolas"/>
                <a:ea typeface="Consolas"/>
                <a:cs typeface="Consolas"/>
                <a:sym typeface="Consolas"/>
              </a:rPr>
              <a:t>// O(n²) Algorithm</a:t>
            </a:r>
          </a:p>
          <a:p>
            <a:pPr algn="l">
              <a:lnSpc>
                <a:spcPts val="2125"/>
              </a:lnSpc>
            </a:pPr>
            <a:r>
              <a:rPr lang="en-US" sz="1562">
                <a:solidFill>
                  <a:srgbClr val="000000"/>
                </a:solidFill>
                <a:latin typeface="Consolas"/>
                <a:ea typeface="Consolas"/>
                <a:cs typeface="Consolas"/>
                <a:sym typeface="Consolas"/>
              </a:rPr>
              <a:t>for(i=0; i&lt;n; i++)</a:t>
            </a:r>
          </a:p>
          <a:p>
            <a:pPr algn="l">
              <a:lnSpc>
                <a:spcPts val="2125"/>
              </a:lnSpc>
            </a:pPr>
            <a:r>
              <a:rPr lang="en-US" sz="1562">
                <a:solidFill>
                  <a:srgbClr val="000000"/>
                </a:solidFill>
                <a:latin typeface="Consolas"/>
                <a:ea typeface="Consolas"/>
                <a:cs typeface="Consolas"/>
                <a:sym typeface="Consolas"/>
              </a:rPr>
              <a:t>  for(j=0; j&lt;n; j++)</a:t>
            </a:r>
          </a:p>
          <a:p>
            <a:pPr algn="l">
              <a:lnSpc>
                <a:spcPts val="2125"/>
              </a:lnSpc>
            </a:pPr>
            <a:r>
              <a:rPr lang="en-US" sz="1562">
                <a:solidFill>
                  <a:srgbClr val="000000"/>
                </a:solidFill>
                <a:latin typeface="Consolas"/>
                <a:ea typeface="Consolas"/>
                <a:cs typeface="Consolas"/>
                <a:sym typeface="Consolas"/>
              </a:rPr>
              <a:t>    sum += arr[i][j];</a:t>
            </a:r>
          </a:p>
        </p:txBody>
      </p:sp>
      <p:sp>
        <p:nvSpPr>
          <p:cNvPr name="TextBox 15" id="15"/>
          <p:cNvSpPr txBox="true"/>
          <p:nvPr/>
        </p:nvSpPr>
        <p:spPr>
          <a:xfrm rot="0">
            <a:off x="9414119" y="2740844"/>
            <a:ext cx="3605332" cy="505589"/>
          </a:xfrm>
          <a:prstGeom prst="rect">
            <a:avLst/>
          </a:prstGeom>
        </p:spPr>
        <p:txBody>
          <a:bodyPr anchor="t" rtlCol="false" tIns="0" lIns="0" bIns="0" rIns="0">
            <a:spAutoFit/>
          </a:bodyPr>
          <a:lstStyle/>
          <a:p>
            <a:pPr algn="l">
              <a:lnSpc>
                <a:spcPts val="3958"/>
              </a:lnSpc>
            </a:pPr>
            <a:r>
              <a:rPr lang="en-US" sz="3116" b="true">
                <a:solidFill>
                  <a:srgbClr val="E1E5CD"/>
                </a:solidFill>
                <a:latin typeface="Arimo Bold"/>
                <a:ea typeface="Arimo Bold"/>
                <a:cs typeface="Arimo Bold"/>
                <a:sym typeface="Arimo Bold"/>
              </a:rPr>
              <a:t>After: AI-Optimized</a:t>
            </a:r>
          </a:p>
        </p:txBody>
      </p:sp>
      <p:grpSp>
        <p:nvGrpSpPr>
          <p:cNvPr name="Group 16" id="16"/>
          <p:cNvGrpSpPr/>
          <p:nvPr/>
        </p:nvGrpSpPr>
        <p:grpSpPr>
          <a:xfrm rot="0">
            <a:off x="9397155" y="3344913"/>
            <a:ext cx="6652022" cy="3297288"/>
            <a:chOff x="0" y="0"/>
            <a:chExt cx="8869362" cy="4396384"/>
          </a:xfrm>
        </p:grpSpPr>
        <p:sp>
          <p:nvSpPr>
            <p:cNvPr name="Freeform 17" id="17"/>
            <p:cNvSpPr/>
            <p:nvPr/>
          </p:nvSpPr>
          <p:spPr>
            <a:xfrm flipH="false" flipV="false" rot="0">
              <a:off x="0" y="0"/>
              <a:ext cx="8869426" cy="4396486"/>
            </a:xfrm>
            <a:custGeom>
              <a:avLst/>
              <a:gdLst/>
              <a:ahLst/>
              <a:cxnLst/>
              <a:rect r="r" b="b" t="t" l="l"/>
              <a:pathLst>
                <a:path h="4396486" w="8869426">
                  <a:moveTo>
                    <a:pt x="0" y="40005"/>
                  </a:moveTo>
                  <a:cubicBezTo>
                    <a:pt x="0" y="17907"/>
                    <a:pt x="17907" y="0"/>
                    <a:pt x="40005" y="0"/>
                  </a:cubicBezTo>
                  <a:lnTo>
                    <a:pt x="8829421" y="0"/>
                  </a:lnTo>
                  <a:cubicBezTo>
                    <a:pt x="8851519" y="0"/>
                    <a:pt x="8869426" y="17907"/>
                    <a:pt x="8869426" y="40005"/>
                  </a:cubicBezTo>
                  <a:lnTo>
                    <a:pt x="8869426" y="4356481"/>
                  </a:lnTo>
                  <a:cubicBezTo>
                    <a:pt x="8869426" y="4378579"/>
                    <a:pt x="8851519" y="4396486"/>
                    <a:pt x="8829421" y="4396486"/>
                  </a:cubicBezTo>
                  <a:lnTo>
                    <a:pt x="40005" y="4396486"/>
                  </a:lnTo>
                  <a:cubicBezTo>
                    <a:pt x="17907" y="4396486"/>
                    <a:pt x="0" y="4378579"/>
                    <a:pt x="0" y="4356481"/>
                  </a:cubicBezTo>
                  <a:close/>
                </a:path>
              </a:pathLst>
            </a:custGeom>
            <a:solidFill>
              <a:srgbClr val="292A2C"/>
            </a:solidFill>
          </p:spPr>
        </p:sp>
      </p:grpSp>
      <p:grpSp>
        <p:nvGrpSpPr>
          <p:cNvPr name="Group 18" id="18"/>
          <p:cNvGrpSpPr/>
          <p:nvPr/>
        </p:nvGrpSpPr>
        <p:grpSpPr>
          <a:xfrm rot="0">
            <a:off x="9387183" y="3344913"/>
            <a:ext cx="6671967" cy="3297288"/>
            <a:chOff x="0" y="0"/>
            <a:chExt cx="8895956" cy="4396384"/>
          </a:xfrm>
        </p:grpSpPr>
        <p:sp>
          <p:nvSpPr>
            <p:cNvPr name="Freeform 19" id="19"/>
            <p:cNvSpPr/>
            <p:nvPr/>
          </p:nvSpPr>
          <p:spPr>
            <a:xfrm flipH="false" flipV="false" rot="0">
              <a:off x="0" y="0"/>
              <a:ext cx="8895969" cy="4396486"/>
            </a:xfrm>
            <a:custGeom>
              <a:avLst/>
              <a:gdLst/>
              <a:ahLst/>
              <a:cxnLst/>
              <a:rect r="r" b="b" t="t" l="l"/>
              <a:pathLst>
                <a:path h="4396486" w="8895969">
                  <a:moveTo>
                    <a:pt x="0" y="40005"/>
                  </a:moveTo>
                  <a:cubicBezTo>
                    <a:pt x="0" y="17907"/>
                    <a:pt x="17907" y="0"/>
                    <a:pt x="40005" y="0"/>
                  </a:cubicBezTo>
                  <a:lnTo>
                    <a:pt x="8855964" y="0"/>
                  </a:lnTo>
                  <a:cubicBezTo>
                    <a:pt x="8878062" y="0"/>
                    <a:pt x="8895969" y="17907"/>
                    <a:pt x="8895969" y="40005"/>
                  </a:cubicBezTo>
                  <a:lnTo>
                    <a:pt x="8895969" y="4356481"/>
                  </a:lnTo>
                  <a:cubicBezTo>
                    <a:pt x="8895969" y="4378579"/>
                    <a:pt x="8878062" y="4396486"/>
                    <a:pt x="8855964" y="4396486"/>
                  </a:cubicBezTo>
                  <a:lnTo>
                    <a:pt x="40005" y="4396486"/>
                  </a:lnTo>
                  <a:cubicBezTo>
                    <a:pt x="17907" y="4396486"/>
                    <a:pt x="0" y="4378579"/>
                    <a:pt x="0" y="4356481"/>
                  </a:cubicBezTo>
                  <a:close/>
                </a:path>
              </a:pathLst>
            </a:custGeom>
            <a:solidFill>
              <a:srgbClr val="292A2C"/>
            </a:solidFill>
          </p:spPr>
        </p:sp>
      </p:grpSp>
      <p:sp>
        <p:nvSpPr>
          <p:cNvPr name="TextBox 20" id="20"/>
          <p:cNvSpPr txBox="true"/>
          <p:nvPr/>
        </p:nvSpPr>
        <p:spPr>
          <a:xfrm rot="0">
            <a:off x="9587065" y="3437630"/>
            <a:ext cx="6272212" cy="3054696"/>
          </a:xfrm>
          <a:prstGeom prst="rect">
            <a:avLst/>
          </a:prstGeom>
        </p:spPr>
        <p:txBody>
          <a:bodyPr anchor="t" rtlCol="false" tIns="0" lIns="0" bIns="0" rIns="0">
            <a:spAutoFit/>
          </a:bodyPr>
          <a:lstStyle/>
          <a:p>
            <a:pPr algn="l">
              <a:lnSpc>
                <a:spcPts val="2125"/>
              </a:lnSpc>
            </a:pPr>
            <a:r>
              <a:rPr lang="en-US" sz="1562">
                <a:solidFill>
                  <a:srgbClr val="C2C4B5"/>
                </a:solidFill>
                <a:latin typeface="Consolas"/>
                <a:ea typeface="Consolas"/>
                <a:cs typeface="Consolas"/>
                <a:sym typeface="Consolas"/>
              </a:rPr>
              <a:t>// Parameterized Query</a:t>
            </a:r>
          </a:p>
          <a:p>
            <a:pPr algn="l">
              <a:lnSpc>
                <a:spcPts val="2125"/>
              </a:lnSpc>
            </a:pPr>
            <a:r>
              <a:rPr lang="en-US" sz="1562">
                <a:solidFill>
                  <a:srgbClr val="C2C4B5"/>
                </a:solidFill>
                <a:latin typeface="Consolas"/>
                <a:ea typeface="Consolas"/>
                <a:cs typeface="Consolas"/>
                <a:sym typeface="Consolas"/>
              </a:rPr>
              <a:t>query = db.prepare(</a:t>
            </a:r>
          </a:p>
          <a:p>
            <a:pPr algn="l">
              <a:lnSpc>
                <a:spcPts val="2125"/>
              </a:lnSpc>
            </a:pPr>
            <a:r>
              <a:rPr lang="en-US" sz="1562">
                <a:solidFill>
                  <a:srgbClr val="C2C4B5"/>
                </a:solidFill>
                <a:latin typeface="Consolas"/>
                <a:ea typeface="Consolas"/>
                <a:cs typeface="Consolas"/>
                <a:sym typeface="Consolas"/>
              </a:rPr>
              <a:t>  "SELECT * FROM users </a:t>
            </a:r>
          </a:p>
          <a:p>
            <a:pPr algn="l">
              <a:lnSpc>
                <a:spcPts val="2125"/>
              </a:lnSpc>
            </a:pPr>
            <a:r>
              <a:rPr lang="en-US" sz="1562">
                <a:solidFill>
                  <a:srgbClr val="C2C4B5"/>
                </a:solidFill>
                <a:latin typeface="Consolas"/>
                <a:ea typeface="Consolas"/>
                <a:cs typeface="Consolas"/>
                <a:sym typeface="Consolas"/>
              </a:rPr>
              <a:t>   WHERE id=?", [userId]);</a:t>
            </a:r>
          </a:p>
          <a:p>
            <a:pPr algn="l">
              <a:lnSpc>
                <a:spcPts val="2125"/>
              </a:lnSpc>
            </a:pPr>
          </a:p>
          <a:p>
            <a:pPr algn="l">
              <a:lnSpc>
                <a:spcPts val="2125"/>
              </a:lnSpc>
            </a:pPr>
            <a:r>
              <a:rPr lang="en-US" sz="1562">
                <a:solidFill>
                  <a:srgbClr val="C2C4B5"/>
                </a:solidFill>
                <a:latin typeface="Consolas"/>
                <a:ea typeface="Consolas"/>
                <a:cs typeface="Consolas"/>
                <a:sym typeface="Consolas"/>
              </a:rPr>
              <a:t>// Environment Variable</a:t>
            </a:r>
          </a:p>
          <a:p>
            <a:pPr algn="l">
              <a:lnSpc>
                <a:spcPts val="2125"/>
              </a:lnSpc>
            </a:pPr>
            <a:r>
              <a:rPr lang="en-US" sz="1562">
                <a:solidFill>
                  <a:srgbClr val="C2C4B5"/>
                </a:solidFill>
                <a:latin typeface="Consolas"/>
                <a:ea typeface="Consolas"/>
                <a:cs typeface="Consolas"/>
                <a:sym typeface="Consolas"/>
              </a:rPr>
              <a:t>apiKey = process.env.API_KEY;</a:t>
            </a:r>
          </a:p>
          <a:p>
            <a:pPr algn="l">
              <a:lnSpc>
                <a:spcPts val="2125"/>
              </a:lnSpc>
            </a:pPr>
          </a:p>
          <a:p>
            <a:pPr algn="l">
              <a:lnSpc>
                <a:spcPts val="2125"/>
              </a:lnSpc>
            </a:pPr>
            <a:r>
              <a:rPr lang="en-US" sz="1562">
                <a:solidFill>
                  <a:srgbClr val="C2C4B5"/>
                </a:solidFill>
                <a:latin typeface="Consolas"/>
                <a:ea typeface="Consolas"/>
                <a:cs typeface="Consolas"/>
                <a:sym typeface="Consolas"/>
              </a:rPr>
              <a:t>// O(n) Optimized</a:t>
            </a:r>
          </a:p>
          <a:p>
            <a:pPr algn="l">
              <a:lnSpc>
                <a:spcPts val="2125"/>
              </a:lnSpc>
            </a:pPr>
            <a:r>
              <a:rPr lang="en-US" sz="1562">
                <a:solidFill>
                  <a:srgbClr val="C2C4B5"/>
                </a:solidFill>
                <a:latin typeface="Consolas"/>
                <a:ea typeface="Consolas"/>
                <a:cs typeface="Consolas"/>
                <a:sym typeface="Consolas"/>
              </a:rPr>
              <a:t>sum = arr.flat()</a:t>
            </a:r>
          </a:p>
          <a:p>
            <a:pPr algn="l">
              <a:lnSpc>
                <a:spcPts val="2125"/>
              </a:lnSpc>
            </a:pPr>
            <a:r>
              <a:rPr lang="en-US" sz="1562">
                <a:solidFill>
                  <a:srgbClr val="C2C4B5"/>
                </a:solidFill>
                <a:latin typeface="Consolas"/>
                <a:ea typeface="Consolas"/>
                <a:cs typeface="Consolas"/>
                <a:sym typeface="Consolas"/>
              </a:rPr>
              <a:t>  .reduce((a,b) =&gt; a+b, 0);</a:t>
            </a:r>
          </a:p>
        </p:txBody>
      </p:sp>
      <p:grpSp>
        <p:nvGrpSpPr>
          <p:cNvPr name="Group 21" id="21"/>
          <p:cNvGrpSpPr/>
          <p:nvPr/>
        </p:nvGrpSpPr>
        <p:grpSpPr>
          <a:xfrm rot="0">
            <a:off x="2248052" y="6959203"/>
            <a:ext cx="3342237" cy="1886541"/>
            <a:chOff x="0" y="0"/>
            <a:chExt cx="4456316" cy="2515387"/>
          </a:xfrm>
        </p:grpSpPr>
        <p:sp>
          <p:nvSpPr>
            <p:cNvPr name="Freeform 22" id="22"/>
            <p:cNvSpPr/>
            <p:nvPr/>
          </p:nvSpPr>
          <p:spPr>
            <a:xfrm flipH="false" flipV="false" rot="0">
              <a:off x="0" y="0"/>
              <a:ext cx="4456430" cy="2515489"/>
            </a:xfrm>
            <a:custGeom>
              <a:avLst/>
              <a:gdLst/>
              <a:ahLst/>
              <a:cxnLst/>
              <a:rect r="r" b="b" t="t" l="l"/>
              <a:pathLst>
                <a:path h="2515489" w="4456430">
                  <a:moveTo>
                    <a:pt x="0" y="40005"/>
                  </a:moveTo>
                  <a:cubicBezTo>
                    <a:pt x="0" y="17907"/>
                    <a:pt x="17907" y="0"/>
                    <a:pt x="40005" y="0"/>
                  </a:cubicBezTo>
                  <a:lnTo>
                    <a:pt x="4416425" y="0"/>
                  </a:lnTo>
                  <a:cubicBezTo>
                    <a:pt x="4438523" y="0"/>
                    <a:pt x="4456430" y="17907"/>
                    <a:pt x="4456430" y="40005"/>
                  </a:cubicBezTo>
                  <a:lnTo>
                    <a:pt x="4456430" y="2475484"/>
                  </a:lnTo>
                  <a:cubicBezTo>
                    <a:pt x="4456430" y="2497582"/>
                    <a:pt x="4438523" y="2515489"/>
                    <a:pt x="4416425" y="2515489"/>
                  </a:cubicBezTo>
                  <a:lnTo>
                    <a:pt x="40005" y="2515489"/>
                  </a:lnTo>
                  <a:cubicBezTo>
                    <a:pt x="17907" y="2515489"/>
                    <a:pt x="0" y="2497582"/>
                    <a:pt x="0" y="2475484"/>
                  </a:cubicBezTo>
                  <a:close/>
                </a:path>
              </a:pathLst>
            </a:custGeom>
            <a:solidFill>
              <a:srgbClr val="3B3C3E"/>
            </a:solidFill>
          </p:spPr>
        </p:sp>
      </p:grpSp>
      <p:sp>
        <p:nvSpPr>
          <p:cNvPr name="TextBox 23" id="23"/>
          <p:cNvSpPr txBox="true"/>
          <p:nvPr/>
        </p:nvSpPr>
        <p:spPr>
          <a:xfrm rot="0">
            <a:off x="2447925" y="7130501"/>
            <a:ext cx="2852442" cy="340814"/>
          </a:xfrm>
          <a:prstGeom prst="rect">
            <a:avLst/>
          </a:prstGeom>
        </p:spPr>
        <p:txBody>
          <a:bodyPr anchor="t" rtlCol="false" tIns="0" lIns="0" bIns="0" rIns="0">
            <a:spAutoFit/>
          </a:bodyPr>
          <a:lstStyle/>
          <a:p>
            <a:pPr algn="l">
              <a:lnSpc>
                <a:spcPts val="2437"/>
              </a:lnSpc>
            </a:pPr>
            <a:r>
              <a:rPr lang="en-US" sz="1937" b="true">
                <a:solidFill>
                  <a:srgbClr val="C2C4B5"/>
                </a:solidFill>
                <a:latin typeface="Arimo Bold"/>
                <a:ea typeface="Arimo Bold"/>
                <a:cs typeface="Arimo Bold"/>
                <a:sym typeface="Arimo Bold"/>
              </a:rPr>
              <a:t>OWASP Top 10 Detection</a:t>
            </a:r>
          </a:p>
        </p:txBody>
      </p:sp>
      <p:sp>
        <p:nvSpPr>
          <p:cNvPr name="TextBox 24" id="24"/>
          <p:cNvSpPr txBox="true"/>
          <p:nvPr/>
        </p:nvSpPr>
        <p:spPr>
          <a:xfrm rot="0">
            <a:off x="2447925" y="7536809"/>
            <a:ext cx="2942482" cy="1109072"/>
          </a:xfrm>
          <a:prstGeom prst="rect">
            <a:avLst/>
          </a:prstGeom>
        </p:spPr>
        <p:txBody>
          <a:bodyPr anchor="t" rtlCol="false" tIns="0" lIns="0" bIns="0" rIns="0">
            <a:spAutoFit/>
          </a:bodyPr>
          <a:lstStyle/>
          <a:p>
            <a:pPr algn="l">
              <a:lnSpc>
                <a:spcPts val="2125"/>
              </a:lnSpc>
            </a:pPr>
            <a:r>
              <a:rPr lang="en-US" sz="1562">
                <a:solidFill>
                  <a:srgbClr val="C2C4B5"/>
                </a:solidFill>
                <a:latin typeface="Bitter"/>
                <a:ea typeface="Bitter"/>
                <a:cs typeface="Bitter"/>
                <a:sym typeface="Bitter"/>
              </a:rPr>
              <a:t>Identifies injection flaws, broken authentication, XSS, and all critical security vulnerabilities instantly.</a:t>
            </a:r>
          </a:p>
        </p:txBody>
      </p:sp>
      <p:grpSp>
        <p:nvGrpSpPr>
          <p:cNvPr name="Group 25" id="25"/>
          <p:cNvGrpSpPr/>
          <p:nvPr/>
        </p:nvGrpSpPr>
        <p:grpSpPr>
          <a:xfrm rot="0">
            <a:off x="5731078" y="6959203"/>
            <a:ext cx="3342380" cy="1886541"/>
            <a:chOff x="0" y="0"/>
            <a:chExt cx="4456506" cy="2515387"/>
          </a:xfrm>
        </p:grpSpPr>
        <p:sp>
          <p:nvSpPr>
            <p:cNvPr name="Freeform 26" id="26"/>
            <p:cNvSpPr/>
            <p:nvPr/>
          </p:nvSpPr>
          <p:spPr>
            <a:xfrm flipH="false" flipV="false" rot="0">
              <a:off x="0" y="0"/>
              <a:ext cx="4456557" cy="2515489"/>
            </a:xfrm>
            <a:custGeom>
              <a:avLst/>
              <a:gdLst/>
              <a:ahLst/>
              <a:cxnLst/>
              <a:rect r="r" b="b" t="t" l="l"/>
              <a:pathLst>
                <a:path h="2515489" w="4456557">
                  <a:moveTo>
                    <a:pt x="0" y="40005"/>
                  </a:moveTo>
                  <a:cubicBezTo>
                    <a:pt x="0" y="17907"/>
                    <a:pt x="17907" y="0"/>
                    <a:pt x="40005" y="0"/>
                  </a:cubicBezTo>
                  <a:lnTo>
                    <a:pt x="4416552" y="0"/>
                  </a:lnTo>
                  <a:cubicBezTo>
                    <a:pt x="4438650" y="0"/>
                    <a:pt x="4456557" y="17907"/>
                    <a:pt x="4456557" y="40005"/>
                  </a:cubicBezTo>
                  <a:lnTo>
                    <a:pt x="4456557" y="2475484"/>
                  </a:lnTo>
                  <a:cubicBezTo>
                    <a:pt x="4456557" y="2497582"/>
                    <a:pt x="4438650" y="2515489"/>
                    <a:pt x="4416552" y="2515489"/>
                  </a:cubicBezTo>
                  <a:lnTo>
                    <a:pt x="40005" y="2515489"/>
                  </a:lnTo>
                  <a:cubicBezTo>
                    <a:pt x="17907" y="2515489"/>
                    <a:pt x="0" y="2497582"/>
                    <a:pt x="0" y="2475484"/>
                  </a:cubicBezTo>
                  <a:close/>
                </a:path>
              </a:pathLst>
            </a:custGeom>
            <a:solidFill>
              <a:srgbClr val="3B3C3E"/>
            </a:solidFill>
          </p:spPr>
        </p:sp>
      </p:grpSp>
      <p:sp>
        <p:nvSpPr>
          <p:cNvPr name="TextBox 27" id="27"/>
          <p:cNvSpPr txBox="true"/>
          <p:nvPr/>
        </p:nvSpPr>
        <p:spPr>
          <a:xfrm rot="0">
            <a:off x="5930951" y="7130501"/>
            <a:ext cx="2498379" cy="340814"/>
          </a:xfrm>
          <a:prstGeom prst="rect">
            <a:avLst/>
          </a:prstGeom>
        </p:spPr>
        <p:txBody>
          <a:bodyPr anchor="t" rtlCol="false" tIns="0" lIns="0" bIns="0" rIns="0">
            <a:spAutoFit/>
          </a:bodyPr>
          <a:lstStyle/>
          <a:p>
            <a:pPr algn="l">
              <a:lnSpc>
                <a:spcPts val="2437"/>
              </a:lnSpc>
            </a:pPr>
            <a:r>
              <a:rPr lang="en-US" sz="1937" b="true">
                <a:solidFill>
                  <a:srgbClr val="C2C4B5"/>
                </a:solidFill>
                <a:latin typeface="Arimo Bold"/>
                <a:ea typeface="Arimo Bold"/>
                <a:cs typeface="Arimo Bold"/>
                <a:sym typeface="Arimo Bold"/>
              </a:rPr>
              <a:t>Auto-Rewrite Engine</a:t>
            </a:r>
          </a:p>
        </p:txBody>
      </p:sp>
      <p:sp>
        <p:nvSpPr>
          <p:cNvPr name="TextBox 28" id="28"/>
          <p:cNvSpPr txBox="true"/>
          <p:nvPr/>
        </p:nvSpPr>
        <p:spPr>
          <a:xfrm rot="0">
            <a:off x="5930951" y="7536809"/>
            <a:ext cx="2942634" cy="1109072"/>
          </a:xfrm>
          <a:prstGeom prst="rect">
            <a:avLst/>
          </a:prstGeom>
        </p:spPr>
        <p:txBody>
          <a:bodyPr anchor="t" rtlCol="false" tIns="0" lIns="0" bIns="0" rIns="0">
            <a:spAutoFit/>
          </a:bodyPr>
          <a:lstStyle/>
          <a:p>
            <a:pPr algn="l">
              <a:lnSpc>
                <a:spcPts val="2125"/>
              </a:lnSpc>
            </a:pPr>
            <a:r>
              <a:rPr lang="en-US" sz="1562">
                <a:solidFill>
                  <a:srgbClr val="C2C4B5"/>
                </a:solidFill>
                <a:latin typeface="Bitter"/>
                <a:ea typeface="Bitter"/>
                <a:cs typeface="Bitter"/>
                <a:sym typeface="Bitter"/>
              </a:rPr>
              <a:t>Generates production-ready secure alternatives with complete diff tracking and rollback capability.</a:t>
            </a:r>
          </a:p>
        </p:txBody>
      </p:sp>
      <p:grpSp>
        <p:nvGrpSpPr>
          <p:cNvPr name="Group 29" id="29"/>
          <p:cNvGrpSpPr/>
          <p:nvPr/>
        </p:nvGrpSpPr>
        <p:grpSpPr>
          <a:xfrm rot="0">
            <a:off x="9214247" y="6959203"/>
            <a:ext cx="3342380" cy="1886541"/>
            <a:chOff x="0" y="0"/>
            <a:chExt cx="4456506" cy="2515387"/>
          </a:xfrm>
        </p:grpSpPr>
        <p:sp>
          <p:nvSpPr>
            <p:cNvPr name="Freeform 30" id="30"/>
            <p:cNvSpPr/>
            <p:nvPr/>
          </p:nvSpPr>
          <p:spPr>
            <a:xfrm flipH="false" flipV="false" rot="0">
              <a:off x="0" y="0"/>
              <a:ext cx="4456557" cy="2515489"/>
            </a:xfrm>
            <a:custGeom>
              <a:avLst/>
              <a:gdLst/>
              <a:ahLst/>
              <a:cxnLst/>
              <a:rect r="r" b="b" t="t" l="l"/>
              <a:pathLst>
                <a:path h="2515489" w="4456557">
                  <a:moveTo>
                    <a:pt x="0" y="40005"/>
                  </a:moveTo>
                  <a:cubicBezTo>
                    <a:pt x="0" y="17907"/>
                    <a:pt x="17907" y="0"/>
                    <a:pt x="40005" y="0"/>
                  </a:cubicBezTo>
                  <a:lnTo>
                    <a:pt x="4416552" y="0"/>
                  </a:lnTo>
                  <a:cubicBezTo>
                    <a:pt x="4438650" y="0"/>
                    <a:pt x="4456557" y="17907"/>
                    <a:pt x="4456557" y="40005"/>
                  </a:cubicBezTo>
                  <a:lnTo>
                    <a:pt x="4456557" y="2475484"/>
                  </a:lnTo>
                  <a:cubicBezTo>
                    <a:pt x="4456557" y="2497582"/>
                    <a:pt x="4438650" y="2515489"/>
                    <a:pt x="4416552" y="2515489"/>
                  </a:cubicBezTo>
                  <a:lnTo>
                    <a:pt x="40005" y="2515489"/>
                  </a:lnTo>
                  <a:cubicBezTo>
                    <a:pt x="17907" y="2515489"/>
                    <a:pt x="0" y="2497582"/>
                    <a:pt x="0" y="2475484"/>
                  </a:cubicBezTo>
                  <a:close/>
                </a:path>
              </a:pathLst>
            </a:custGeom>
            <a:solidFill>
              <a:srgbClr val="3B3C3E"/>
            </a:solidFill>
          </p:spPr>
        </p:sp>
      </p:grpSp>
      <p:sp>
        <p:nvSpPr>
          <p:cNvPr name="TextBox 31" id="31"/>
          <p:cNvSpPr txBox="true"/>
          <p:nvPr/>
        </p:nvSpPr>
        <p:spPr>
          <a:xfrm rot="0">
            <a:off x="9414119" y="7130501"/>
            <a:ext cx="2558806" cy="340814"/>
          </a:xfrm>
          <a:prstGeom prst="rect">
            <a:avLst/>
          </a:prstGeom>
        </p:spPr>
        <p:txBody>
          <a:bodyPr anchor="t" rtlCol="false" tIns="0" lIns="0" bIns="0" rIns="0">
            <a:spAutoFit/>
          </a:bodyPr>
          <a:lstStyle/>
          <a:p>
            <a:pPr algn="l">
              <a:lnSpc>
                <a:spcPts val="2437"/>
              </a:lnSpc>
            </a:pPr>
            <a:r>
              <a:rPr lang="en-US" sz="1937" b="true">
                <a:solidFill>
                  <a:srgbClr val="C2C4B5"/>
                </a:solidFill>
                <a:latin typeface="Arimo Bold"/>
                <a:ea typeface="Arimo Bold"/>
                <a:cs typeface="Arimo Bold"/>
                <a:sym typeface="Arimo Bold"/>
              </a:rPr>
              <a:t>Performance Profiling</a:t>
            </a:r>
          </a:p>
        </p:txBody>
      </p:sp>
      <p:sp>
        <p:nvSpPr>
          <p:cNvPr name="TextBox 32" id="32"/>
          <p:cNvSpPr txBox="true"/>
          <p:nvPr/>
        </p:nvSpPr>
        <p:spPr>
          <a:xfrm rot="0">
            <a:off x="9414119" y="7536809"/>
            <a:ext cx="2942634" cy="836562"/>
          </a:xfrm>
          <a:prstGeom prst="rect">
            <a:avLst/>
          </a:prstGeom>
        </p:spPr>
        <p:txBody>
          <a:bodyPr anchor="t" rtlCol="false" tIns="0" lIns="0" bIns="0" rIns="0">
            <a:spAutoFit/>
          </a:bodyPr>
          <a:lstStyle/>
          <a:p>
            <a:pPr algn="l">
              <a:lnSpc>
                <a:spcPts val="2125"/>
              </a:lnSpc>
            </a:pPr>
            <a:r>
              <a:rPr lang="en-US" sz="1562">
                <a:solidFill>
                  <a:srgbClr val="C2C4B5"/>
                </a:solidFill>
                <a:latin typeface="Bitter"/>
                <a:ea typeface="Bitter"/>
                <a:cs typeface="Bitter"/>
                <a:sym typeface="Bitter"/>
              </a:rPr>
              <a:t>Detects algorithmic complexity issues and suggests optimized implementations for scalability.</a:t>
            </a:r>
          </a:p>
        </p:txBody>
      </p:sp>
      <p:grpSp>
        <p:nvGrpSpPr>
          <p:cNvPr name="Group 33" id="33"/>
          <p:cNvGrpSpPr/>
          <p:nvPr/>
        </p:nvGrpSpPr>
        <p:grpSpPr>
          <a:xfrm rot="0">
            <a:off x="12697416" y="6959203"/>
            <a:ext cx="3342380" cy="1886541"/>
            <a:chOff x="0" y="0"/>
            <a:chExt cx="4456506" cy="2515387"/>
          </a:xfrm>
        </p:grpSpPr>
        <p:sp>
          <p:nvSpPr>
            <p:cNvPr name="Freeform 34" id="34"/>
            <p:cNvSpPr/>
            <p:nvPr/>
          </p:nvSpPr>
          <p:spPr>
            <a:xfrm flipH="false" flipV="false" rot="0">
              <a:off x="0" y="0"/>
              <a:ext cx="4456557" cy="2515489"/>
            </a:xfrm>
            <a:custGeom>
              <a:avLst/>
              <a:gdLst/>
              <a:ahLst/>
              <a:cxnLst/>
              <a:rect r="r" b="b" t="t" l="l"/>
              <a:pathLst>
                <a:path h="2515489" w="4456557">
                  <a:moveTo>
                    <a:pt x="0" y="40005"/>
                  </a:moveTo>
                  <a:cubicBezTo>
                    <a:pt x="0" y="17907"/>
                    <a:pt x="17907" y="0"/>
                    <a:pt x="40005" y="0"/>
                  </a:cubicBezTo>
                  <a:lnTo>
                    <a:pt x="4416552" y="0"/>
                  </a:lnTo>
                  <a:cubicBezTo>
                    <a:pt x="4438650" y="0"/>
                    <a:pt x="4456557" y="17907"/>
                    <a:pt x="4456557" y="40005"/>
                  </a:cubicBezTo>
                  <a:lnTo>
                    <a:pt x="4456557" y="2475484"/>
                  </a:lnTo>
                  <a:cubicBezTo>
                    <a:pt x="4456557" y="2497582"/>
                    <a:pt x="4438650" y="2515489"/>
                    <a:pt x="4416552" y="2515489"/>
                  </a:cubicBezTo>
                  <a:lnTo>
                    <a:pt x="40005" y="2515489"/>
                  </a:lnTo>
                  <a:cubicBezTo>
                    <a:pt x="17907" y="2515489"/>
                    <a:pt x="0" y="2497582"/>
                    <a:pt x="0" y="2475484"/>
                  </a:cubicBezTo>
                  <a:close/>
                </a:path>
              </a:pathLst>
            </a:custGeom>
            <a:solidFill>
              <a:srgbClr val="3B3C3E"/>
            </a:solidFill>
          </p:spPr>
        </p:sp>
      </p:grpSp>
      <p:sp>
        <p:nvSpPr>
          <p:cNvPr name="TextBox 35" id="35"/>
          <p:cNvSpPr txBox="true"/>
          <p:nvPr/>
        </p:nvSpPr>
        <p:spPr>
          <a:xfrm rot="0">
            <a:off x="12897298" y="7130501"/>
            <a:ext cx="2536927" cy="340814"/>
          </a:xfrm>
          <a:prstGeom prst="rect">
            <a:avLst/>
          </a:prstGeom>
        </p:spPr>
        <p:txBody>
          <a:bodyPr anchor="t" rtlCol="false" tIns="0" lIns="0" bIns="0" rIns="0">
            <a:spAutoFit/>
          </a:bodyPr>
          <a:lstStyle/>
          <a:p>
            <a:pPr algn="l">
              <a:lnSpc>
                <a:spcPts val="2437"/>
              </a:lnSpc>
            </a:pPr>
            <a:r>
              <a:rPr lang="en-US" sz="1937" b="true">
                <a:solidFill>
                  <a:srgbClr val="C2C4B5"/>
                </a:solidFill>
                <a:latin typeface="Arimo Bold"/>
                <a:ea typeface="Arimo Bold"/>
                <a:cs typeface="Arimo Bold"/>
                <a:sym typeface="Arimo Bold"/>
              </a:rPr>
              <a:t>GitHub PR Integration</a:t>
            </a:r>
          </a:p>
        </p:txBody>
      </p:sp>
      <p:sp>
        <p:nvSpPr>
          <p:cNvPr name="TextBox 36" id="36"/>
          <p:cNvSpPr txBox="true"/>
          <p:nvPr/>
        </p:nvSpPr>
        <p:spPr>
          <a:xfrm rot="0">
            <a:off x="12897298" y="7536809"/>
            <a:ext cx="2942634" cy="1109072"/>
          </a:xfrm>
          <a:prstGeom prst="rect">
            <a:avLst/>
          </a:prstGeom>
        </p:spPr>
        <p:txBody>
          <a:bodyPr anchor="t" rtlCol="false" tIns="0" lIns="0" bIns="0" rIns="0">
            <a:spAutoFit/>
          </a:bodyPr>
          <a:lstStyle/>
          <a:p>
            <a:pPr algn="l">
              <a:lnSpc>
                <a:spcPts val="2125"/>
              </a:lnSpc>
            </a:pPr>
            <a:r>
              <a:rPr lang="en-US" sz="1562">
                <a:solidFill>
                  <a:srgbClr val="C2C4B5"/>
                </a:solidFill>
                <a:latin typeface="Bitter"/>
                <a:ea typeface="Bitter"/>
                <a:cs typeface="Bitter"/>
                <a:sym typeface="Bitter"/>
              </a:rPr>
              <a:t>Automated comments on pull requests with inline suggestions and security scoring metrics.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1012"/>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1D1F"/>
            </a:solidFill>
          </p:spPr>
        </p:sp>
      </p:grpSp>
      <p:sp>
        <p:nvSpPr>
          <p:cNvPr name="TextBox 6" id="6"/>
          <p:cNvSpPr txBox="true"/>
          <p:nvPr/>
        </p:nvSpPr>
        <p:spPr>
          <a:xfrm rot="0">
            <a:off x="1682561" y="408088"/>
            <a:ext cx="9679278" cy="929828"/>
          </a:xfrm>
          <a:prstGeom prst="rect">
            <a:avLst/>
          </a:prstGeom>
        </p:spPr>
        <p:txBody>
          <a:bodyPr anchor="t" rtlCol="false" tIns="0" lIns="0" bIns="0" rIns="0">
            <a:spAutoFit/>
          </a:bodyPr>
          <a:lstStyle/>
          <a:p>
            <a:pPr algn="l">
              <a:lnSpc>
                <a:spcPts val="6866"/>
              </a:lnSpc>
            </a:pPr>
            <a:r>
              <a:rPr lang="en-US" sz="5530" b="true">
                <a:solidFill>
                  <a:srgbClr val="E1E5CD"/>
                </a:solidFill>
                <a:latin typeface="Arimo Bold"/>
                <a:ea typeface="Arimo Bold"/>
                <a:cs typeface="Arimo Bold"/>
                <a:sym typeface="Arimo Bold"/>
              </a:rPr>
              <a:t>Impact &amp; Measurable Benefits</a:t>
            </a:r>
          </a:p>
        </p:txBody>
      </p:sp>
      <p:grpSp>
        <p:nvGrpSpPr>
          <p:cNvPr name="Group 7" id="7"/>
          <p:cNvGrpSpPr/>
          <p:nvPr/>
        </p:nvGrpSpPr>
        <p:grpSpPr>
          <a:xfrm rot="0">
            <a:off x="1627944" y="3164269"/>
            <a:ext cx="7068757" cy="3958463"/>
            <a:chOff x="0" y="0"/>
            <a:chExt cx="10853941" cy="6078144"/>
          </a:xfrm>
        </p:grpSpPr>
        <p:sp>
          <p:nvSpPr>
            <p:cNvPr name="Freeform 8" id="8" descr="preencoded.png"/>
            <p:cNvSpPr/>
            <p:nvPr/>
          </p:nvSpPr>
          <p:spPr>
            <a:xfrm flipH="false" flipV="false" rot="0">
              <a:off x="0" y="0"/>
              <a:ext cx="10853928" cy="6078093"/>
            </a:xfrm>
            <a:custGeom>
              <a:avLst/>
              <a:gdLst/>
              <a:ahLst/>
              <a:cxnLst/>
              <a:rect r="r" b="b" t="t" l="l"/>
              <a:pathLst>
                <a:path h="6078093" w="10853928">
                  <a:moveTo>
                    <a:pt x="0" y="0"/>
                  </a:moveTo>
                  <a:lnTo>
                    <a:pt x="10853928" y="0"/>
                  </a:lnTo>
                  <a:lnTo>
                    <a:pt x="10853928" y="6078093"/>
                  </a:lnTo>
                  <a:lnTo>
                    <a:pt x="0" y="6078093"/>
                  </a:lnTo>
                  <a:lnTo>
                    <a:pt x="0" y="0"/>
                  </a:lnTo>
                  <a:close/>
                </a:path>
              </a:pathLst>
            </a:custGeom>
            <a:blipFill>
              <a:blip r:embed="rId3"/>
              <a:stretch>
                <a:fillRect l="0" t="-21" r="0" b="-22"/>
              </a:stretch>
            </a:blipFill>
          </p:spPr>
        </p:sp>
      </p:grpSp>
      <p:sp>
        <p:nvSpPr>
          <p:cNvPr name="Freeform 9" id="9" descr="preencoded.png"/>
          <p:cNvSpPr/>
          <p:nvPr/>
        </p:nvSpPr>
        <p:spPr>
          <a:xfrm flipH="false" flipV="false" rot="0">
            <a:off x="11361839" y="3063230"/>
            <a:ext cx="369989" cy="369989"/>
          </a:xfrm>
          <a:custGeom>
            <a:avLst/>
            <a:gdLst/>
            <a:ahLst/>
            <a:cxnLst/>
            <a:rect r="r" b="b" t="t" l="l"/>
            <a:pathLst>
              <a:path h="369989" w="369989">
                <a:moveTo>
                  <a:pt x="0" y="0"/>
                </a:moveTo>
                <a:lnTo>
                  <a:pt x="369989" y="0"/>
                </a:lnTo>
                <a:lnTo>
                  <a:pt x="369989" y="369989"/>
                </a:lnTo>
                <a:lnTo>
                  <a:pt x="0" y="369989"/>
                </a:lnTo>
                <a:lnTo>
                  <a:pt x="0" y="0"/>
                </a:lnTo>
                <a:close/>
              </a:path>
            </a:pathLst>
          </a:custGeom>
          <a:blipFill>
            <a:blip r:embed="rId4">
              <a:extLst>
                <a:ext uri="{96DAC541-7B7A-43D3-8B79-37D633B846F1}">
                  <asvg:svgBlip xmlns:asvg="http://schemas.microsoft.com/office/drawing/2016/SVG/main" r:embed="rId5"/>
                </a:ext>
              </a:extLst>
            </a:blip>
            <a:stretch>
              <a:fillRect l="0" t="-26923" r="0" b="-26923"/>
            </a:stretch>
          </a:blipFill>
        </p:spPr>
      </p:sp>
      <p:sp>
        <p:nvSpPr>
          <p:cNvPr name="TextBox 10" id="10"/>
          <p:cNvSpPr txBox="true"/>
          <p:nvPr/>
        </p:nvSpPr>
        <p:spPr>
          <a:xfrm rot="0">
            <a:off x="11781596" y="3044180"/>
            <a:ext cx="2833678" cy="373172"/>
          </a:xfrm>
          <a:prstGeom prst="rect">
            <a:avLst/>
          </a:prstGeom>
        </p:spPr>
        <p:txBody>
          <a:bodyPr anchor="t" rtlCol="false" tIns="0" lIns="0" bIns="0" rIns="0">
            <a:spAutoFit/>
          </a:bodyPr>
          <a:lstStyle/>
          <a:p>
            <a:pPr algn="l">
              <a:lnSpc>
                <a:spcPts val="2756"/>
              </a:lnSpc>
            </a:pPr>
            <a:r>
              <a:rPr lang="en-US" sz="2220" b="true">
                <a:solidFill>
                  <a:srgbClr val="C2C4B5"/>
                </a:solidFill>
                <a:latin typeface="Arimo Bold"/>
                <a:ea typeface="Arimo Bold"/>
                <a:cs typeface="Arimo Bold"/>
                <a:sym typeface="Arimo Bold"/>
              </a:rPr>
              <a:t>80% Faster Reviews</a:t>
            </a:r>
          </a:p>
        </p:txBody>
      </p:sp>
      <p:sp>
        <p:nvSpPr>
          <p:cNvPr name="TextBox 11" id="11"/>
          <p:cNvSpPr txBox="true"/>
          <p:nvPr/>
        </p:nvSpPr>
        <p:spPr>
          <a:xfrm rot="0">
            <a:off x="11806374" y="3550702"/>
            <a:ext cx="4174922" cy="857201"/>
          </a:xfrm>
          <a:prstGeom prst="rect">
            <a:avLst/>
          </a:prstGeom>
        </p:spPr>
        <p:txBody>
          <a:bodyPr anchor="t" rtlCol="false" tIns="0" lIns="0" bIns="0" rIns="0">
            <a:spAutoFit/>
          </a:bodyPr>
          <a:lstStyle/>
          <a:p>
            <a:pPr algn="l">
              <a:lnSpc>
                <a:spcPts val="2142"/>
              </a:lnSpc>
            </a:pPr>
            <a:r>
              <a:rPr lang="en-US" sz="1642">
                <a:solidFill>
                  <a:srgbClr val="C2C4B5"/>
                </a:solidFill>
                <a:latin typeface="Bitter"/>
                <a:ea typeface="Bitter"/>
                <a:cs typeface="Bitter"/>
                <a:sym typeface="Bitter"/>
              </a:rPr>
              <a:t>From hours to minutes—instant feedback loops accelerate deployment cycles and reduce context-switching overhead.</a:t>
            </a:r>
          </a:p>
        </p:txBody>
      </p:sp>
      <p:sp>
        <p:nvSpPr>
          <p:cNvPr name="Freeform 12" id="12" descr="preencoded.png"/>
          <p:cNvSpPr/>
          <p:nvPr/>
        </p:nvSpPr>
        <p:spPr>
          <a:xfrm flipH="false" flipV="false" rot="0">
            <a:off x="11361839" y="4800600"/>
            <a:ext cx="369989" cy="369989"/>
          </a:xfrm>
          <a:custGeom>
            <a:avLst/>
            <a:gdLst/>
            <a:ahLst/>
            <a:cxnLst/>
            <a:rect r="r" b="b" t="t" l="l"/>
            <a:pathLst>
              <a:path h="369989" w="369989">
                <a:moveTo>
                  <a:pt x="0" y="0"/>
                </a:moveTo>
                <a:lnTo>
                  <a:pt x="369989" y="0"/>
                </a:lnTo>
                <a:lnTo>
                  <a:pt x="369989" y="369989"/>
                </a:lnTo>
                <a:lnTo>
                  <a:pt x="0" y="369989"/>
                </a:lnTo>
                <a:lnTo>
                  <a:pt x="0" y="0"/>
                </a:lnTo>
                <a:close/>
              </a:path>
            </a:pathLst>
          </a:custGeom>
          <a:blipFill>
            <a:blip r:embed="rId6">
              <a:extLst>
                <a:ext uri="{96DAC541-7B7A-43D3-8B79-37D633B846F1}">
                  <asvg:svgBlip xmlns:asvg="http://schemas.microsoft.com/office/drawing/2016/SVG/main" r:embed="rId7"/>
                </a:ext>
              </a:extLst>
            </a:blip>
            <a:stretch>
              <a:fillRect l="0" t="-10256" r="0" b="-10256"/>
            </a:stretch>
          </a:blipFill>
        </p:spPr>
      </p:sp>
      <p:sp>
        <p:nvSpPr>
          <p:cNvPr name="TextBox 13" id="13"/>
          <p:cNvSpPr txBox="true"/>
          <p:nvPr/>
        </p:nvSpPr>
        <p:spPr>
          <a:xfrm rot="0">
            <a:off x="11874094" y="4781550"/>
            <a:ext cx="2971334" cy="390375"/>
          </a:xfrm>
          <a:prstGeom prst="rect">
            <a:avLst/>
          </a:prstGeom>
        </p:spPr>
        <p:txBody>
          <a:bodyPr anchor="t" rtlCol="false" tIns="0" lIns="0" bIns="0" rIns="0">
            <a:spAutoFit/>
          </a:bodyPr>
          <a:lstStyle/>
          <a:p>
            <a:pPr algn="l">
              <a:lnSpc>
                <a:spcPts val="2890"/>
              </a:lnSpc>
            </a:pPr>
            <a:r>
              <a:rPr lang="en-US" sz="2328" b="true">
                <a:solidFill>
                  <a:srgbClr val="C2C4B5"/>
                </a:solidFill>
                <a:latin typeface="Arimo Bold"/>
                <a:ea typeface="Arimo Bold"/>
                <a:cs typeface="Arimo Bold"/>
                <a:sym typeface="Arimo Bold"/>
              </a:rPr>
              <a:t>Security Reliability</a:t>
            </a:r>
          </a:p>
        </p:txBody>
      </p:sp>
      <p:sp>
        <p:nvSpPr>
          <p:cNvPr name="TextBox 14" id="14"/>
          <p:cNvSpPr txBox="true"/>
          <p:nvPr/>
        </p:nvSpPr>
        <p:spPr>
          <a:xfrm rot="0">
            <a:off x="11806374" y="5213066"/>
            <a:ext cx="4039482" cy="987181"/>
          </a:xfrm>
          <a:prstGeom prst="rect">
            <a:avLst/>
          </a:prstGeom>
        </p:spPr>
        <p:txBody>
          <a:bodyPr anchor="t" rtlCol="false" tIns="0" lIns="0" bIns="0" rIns="0">
            <a:spAutoFit/>
          </a:bodyPr>
          <a:lstStyle/>
          <a:p>
            <a:pPr algn="l">
              <a:lnSpc>
                <a:spcPts val="2047"/>
              </a:lnSpc>
            </a:pPr>
            <a:r>
              <a:rPr lang="en-US" sz="1569">
                <a:solidFill>
                  <a:srgbClr val="C2C4B5"/>
                </a:solidFill>
                <a:latin typeface="Bitter"/>
                <a:ea typeface="Bitter"/>
                <a:cs typeface="Bitter"/>
                <a:sym typeface="Bitter"/>
              </a:rPr>
              <a:t>Comprehensive vulnerability scanning eliminates entire classes of exploits before they reach production environments.</a:t>
            </a:r>
          </a:p>
        </p:txBody>
      </p:sp>
      <p:sp>
        <p:nvSpPr>
          <p:cNvPr name="Freeform 15" id="15" descr="preencoded.png"/>
          <p:cNvSpPr/>
          <p:nvPr/>
        </p:nvSpPr>
        <p:spPr>
          <a:xfrm flipH="false" flipV="false" rot="0">
            <a:off x="11361839" y="6426948"/>
            <a:ext cx="369989" cy="369989"/>
          </a:xfrm>
          <a:custGeom>
            <a:avLst/>
            <a:gdLst/>
            <a:ahLst/>
            <a:cxnLst/>
            <a:rect r="r" b="b" t="t" l="l"/>
            <a:pathLst>
              <a:path h="369989" w="369989">
                <a:moveTo>
                  <a:pt x="0" y="0"/>
                </a:moveTo>
                <a:lnTo>
                  <a:pt x="369989" y="0"/>
                </a:lnTo>
                <a:lnTo>
                  <a:pt x="369989" y="369989"/>
                </a:lnTo>
                <a:lnTo>
                  <a:pt x="0" y="369989"/>
                </a:lnTo>
                <a:lnTo>
                  <a:pt x="0" y="0"/>
                </a:lnTo>
                <a:close/>
              </a:path>
            </a:pathLst>
          </a:custGeom>
          <a:blipFill>
            <a:blip r:embed="rId8">
              <a:extLst>
                <a:ext uri="{96DAC541-7B7A-43D3-8B79-37D633B846F1}">
                  <asvg:svgBlip xmlns:asvg="http://schemas.microsoft.com/office/drawing/2016/SVG/main" r:embed="rId9"/>
                </a:ext>
              </a:extLst>
            </a:blip>
            <a:stretch>
              <a:fillRect l="-2564" t="0" r="-2564" b="0"/>
            </a:stretch>
          </a:blipFill>
        </p:spPr>
      </p:sp>
      <p:sp>
        <p:nvSpPr>
          <p:cNvPr name="TextBox 16" id="16"/>
          <p:cNvSpPr txBox="true"/>
          <p:nvPr/>
        </p:nvSpPr>
        <p:spPr>
          <a:xfrm rot="0">
            <a:off x="11861368" y="6408977"/>
            <a:ext cx="2790949" cy="377357"/>
          </a:xfrm>
          <a:prstGeom prst="rect">
            <a:avLst/>
          </a:prstGeom>
        </p:spPr>
        <p:txBody>
          <a:bodyPr anchor="t" rtlCol="false" tIns="0" lIns="0" bIns="0" rIns="0">
            <a:spAutoFit/>
          </a:bodyPr>
          <a:lstStyle/>
          <a:p>
            <a:pPr algn="l">
              <a:lnSpc>
                <a:spcPts val="2715"/>
              </a:lnSpc>
            </a:pPr>
            <a:r>
              <a:rPr lang="en-US" sz="2187" b="true">
                <a:solidFill>
                  <a:srgbClr val="C2C4B5"/>
                </a:solidFill>
                <a:latin typeface="Arimo Bold"/>
                <a:ea typeface="Arimo Bold"/>
                <a:cs typeface="Arimo Bold"/>
                <a:sym typeface="Arimo Bold"/>
              </a:rPr>
              <a:t>Scalable Architecture</a:t>
            </a:r>
          </a:p>
        </p:txBody>
      </p:sp>
      <p:sp>
        <p:nvSpPr>
          <p:cNvPr name="TextBox 17" id="17"/>
          <p:cNvSpPr txBox="true"/>
          <p:nvPr/>
        </p:nvSpPr>
        <p:spPr>
          <a:xfrm rot="0">
            <a:off x="11861368" y="6919684"/>
            <a:ext cx="4174922" cy="1042035"/>
          </a:xfrm>
          <a:prstGeom prst="rect">
            <a:avLst/>
          </a:prstGeom>
        </p:spPr>
        <p:txBody>
          <a:bodyPr anchor="t" rtlCol="false" tIns="0" lIns="0" bIns="0" rIns="0">
            <a:spAutoFit/>
          </a:bodyPr>
          <a:lstStyle/>
          <a:p>
            <a:pPr algn="l">
              <a:lnSpc>
                <a:spcPts val="2142"/>
              </a:lnSpc>
            </a:pPr>
            <a:r>
              <a:rPr lang="en-US" sz="1642">
                <a:solidFill>
                  <a:srgbClr val="C2C4B5"/>
                </a:solidFill>
                <a:latin typeface="Bitter"/>
                <a:ea typeface="Bitter"/>
                <a:cs typeface="Bitter"/>
                <a:sym typeface="Bitter"/>
              </a:rPr>
              <a:t>Cleaner, optimized code handles exponential growth without infrastructure rewrites or performance degradation.</a:t>
            </a:r>
          </a:p>
        </p:txBody>
      </p:sp>
      <p:sp>
        <p:nvSpPr>
          <p:cNvPr name="Freeform 18" id="18" descr="preencoded.png"/>
          <p:cNvSpPr/>
          <p:nvPr/>
        </p:nvSpPr>
        <p:spPr>
          <a:xfrm flipH="false" flipV="false" rot="0">
            <a:off x="11361839" y="8144048"/>
            <a:ext cx="369989" cy="369989"/>
          </a:xfrm>
          <a:custGeom>
            <a:avLst/>
            <a:gdLst/>
            <a:ahLst/>
            <a:cxnLst/>
            <a:rect r="r" b="b" t="t" l="l"/>
            <a:pathLst>
              <a:path h="369989" w="369989">
                <a:moveTo>
                  <a:pt x="0" y="0"/>
                </a:moveTo>
                <a:lnTo>
                  <a:pt x="369989" y="0"/>
                </a:lnTo>
                <a:lnTo>
                  <a:pt x="369989" y="369989"/>
                </a:lnTo>
                <a:lnTo>
                  <a:pt x="0" y="369989"/>
                </a:lnTo>
                <a:lnTo>
                  <a:pt x="0" y="0"/>
                </a:lnTo>
                <a:close/>
              </a:path>
            </a:pathLst>
          </a:custGeom>
          <a:blipFill>
            <a:blip r:embed="rId10">
              <a:extLst>
                <a:ext uri="{96DAC541-7B7A-43D3-8B79-37D633B846F1}">
                  <asvg:svgBlip xmlns:asvg="http://schemas.microsoft.com/office/drawing/2016/SVG/main" r:embed="rId11"/>
                </a:ext>
              </a:extLst>
            </a:blip>
            <a:stretch>
              <a:fillRect l="-5128" t="0" r="-5128" b="0"/>
            </a:stretch>
          </a:blipFill>
        </p:spPr>
      </p:sp>
      <p:sp>
        <p:nvSpPr>
          <p:cNvPr name="TextBox 19" id="19"/>
          <p:cNvSpPr txBox="true"/>
          <p:nvPr/>
        </p:nvSpPr>
        <p:spPr>
          <a:xfrm rot="0">
            <a:off x="11840004" y="8140865"/>
            <a:ext cx="2833678" cy="373172"/>
          </a:xfrm>
          <a:prstGeom prst="rect">
            <a:avLst/>
          </a:prstGeom>
        </p:spPr>
        <p:txBody>
          <a:bodyPr anchor="t" rtlCol="false" tIns="0" lIns="0" bIns="0" rIns="0">
            <a:spAutoFit/>
          </a:bodyPr>
          <a:lstStyle/>
          <a:p>
            <a:pPr algn="l">
              <a:lnSpc>
                <a:spcPts val="2756"/>
              </a:lnSpc>
            </a:pPr>
            <a:r>
              <a:rPr lang="en-US" sz="2220" b="true">
                <a:solidFill>
                  <a:srgbClr val="C2C4B5"/>
                </a:solidFill>
                <a:latin typeface="Arimo Bold"/>
                <a:ea typeface="Arimo Bold"/>
                <a:cs typeface="Arimo Bold"/>
                <a:sym typeface="Arimo Bold"/>
              </a:rPr>
              <a:t>Developer Velocity</a:t>
            </a:r>
          </a:p>
        </p:txBody>
      </p:sp>
      <p:sp>
        <p:nvSpPr>
          <p:cNvPr name="TextBox 20" id="20"/>
          <p:cNvSpPr txBox="true"/>
          <p:nvPr/>
        </p:nvSpPr>
        <p:spPr>
          <a:xfrm rot="0">
            <a:off x="11840004" y="8632698"/>
            <a:ext cx="4174922" cy="857201"/>
          </a:xfrm>
          <a:prstGeom prst="rect">
            <a:avLst/>
          </a:prstGeom>
        </p:spPr>
        <p:txBody>
          <a:bodyPr anchor="t" rtlCol="false" tIns="0" lIns="0" bIns="0" rIns="0">
            <a:spAutoFit/>
          </a:bodyPr>
          <a:lstStyle/>
          <a:p>
            <a:pPr algn="l">
              <a:lnSpc>
                <a:spcPts val="2142"/>
              </a:lnSpc>
            </a:pPr>
            <a:r>
              <a:rPr lang="en-US" sz="1642">
                <a:solidFill>
                  <a:srgbClr val="C2C4B5"/>
                </a:solidFill>
                <a:latin typeface="Bitter"/>
                <a:ea typeface="Bitter"/>
                <a:cs typeface="Bitter"/>
                <a:sym typeface="Bitter"/>
              </a:rPr>
              <a:t>Teams ship features faster with confidence, spending time on innovation instead of manual security audits.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1012"/>
            </a:solidFill>
          </p:spPr>
        </p:sp>
      </p:grpSp>
      <p:grpSp>
        <p:nvGrpSpPr>
          <p:cNvPr name="Group 4" id="4"/>
          <p:cNvGrpSpPr/>
          <p:nvPr/>
        </p:nvGrpSpPr>
        <p:grpSpPr>
          <a:xfrm rot="0">
            <a:off x="136255"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C1D1F"/>
            </a:solidFill>
          </p:spPr>
        </p:sp>
      </p:grpSp>
      <p:sp>
        <p:nvSpPr>
          <p:cNvPr name="TextBox 6" id="6"/>
          <p:cNvSpPr txBox="true"/>
          <p:nvPr/>
        </p:nvSpPr>
        <p:spPr>
          <a:xfrm rot="0">
            <a:off x="2538998" y="228076"/>
            <a:ext cx="10557034" cy="901227"/>
          </a:xfrm>
          <a:prstGeom prst="rect">
            <a:avLst/>
          </a:prstGeom>
        </p:spPr>
        <p:txBody>
          <a:bodyPr anchor="t" rtlCol="false" tIns="0" lIns="0" bIns="0" rIns="0">
            <a:spAutoFit/>
          </a:bodyPr>
          <a:lstStyle/>
          <a:p>
            <a:pPr algn="l">
              <a:lnSpc>
                <a:spcPts val="6928"/>
              </a:lnSpc>
            </a:pPr>
            <a:r>
              <a:rPr lang="en-US" sz="5562" b="true">
                <a:solidFill>
                  <a:srgbClr val="E1E5CD"/>
                </a:solidFill>
                <a:latin typeface="Arimo Bold"/>
                <a:ea typeface="Arimo Bold"/>
                <a:cs typeface="Arimo Bold"/>
                <a:sym typeface="Arimo Bold"/>
              </a:rPr>
              <a:t>The Future of Code Intelligence</a:t>
            </a:r>
          </a:p>
        </p:txBody>
      </p:sp>
      <p:grpSp>
        <p:nvGrpSpPr>
          <p:cNvPr name="Group 7" id="7"/>
          <p:cNvGrpSpPr/>
          <p:nvPr/>
        </p:nvGrpSpPr>
        <p:grpSpPr>
          <a:xfrm rot="0">
            <a:off x="2859291" y="3567408"/>
            <a:ext cx="12569276" cy="19050"/>
            <a:chOff x="0" y="0"/>
            <a:chExt cx="16759034" cy="25400"/>
          </a:xfrm>
        </p:grpSpPr>
        <p:sp>
          <p:nvSpPr>
            <p:cNvPr name="Freeform 8" id="8"/>
            <p:cNvSpPr/>
            <p:nvPr/>
          </p:nvSpPr>
          <p:spPr>
            <a:xfrm flipH="false" flipV="false" rot="0">
              <a:off x="0" y="0"/>
              <a:ext cx="16759047" cy="25400"/>
            </a:xfrm>
            <a:custGeom>
              <a:avLst/>
              <a:gdLst/>
              <a:ahLst/>
              <a:cxnLst/>
              <a:rect r="r" b="b" t="t" l="l"/>
              <a:pathLst>
                <a:path h="25400" w="16759047">
                  <a:moveTo>
                    <a:pt x="0" y="12700"/>
                  </a:moveTo>
                  <a:cubicBezTo>
                    <a:pt x="0" y="5715"/>
                    <a:pt x="5715" y="0"/>
                    <a:pt x="12700" y="0"/>
                  </a:cubicBezTo>
                  <a:lnTo>
                    <a:pt x="16746347" y="0"/>
                  </a:lnTo>
                  <a:cubicBezTo>
                    <a:pt x="16753332" y="0"/>
                    <a:pt x="16759047" y="5715"/>
                    <a:pt x="16759047" y="12700"/>
                  </a:cubicBezTo>
                  <a:cubicBezTo>
                    <a:pt x="16759047" y="19685"/>
                    <a:pt x="16753332" y="25400"/>
                    <a:pt x="16746347" y="25400"/>
                  </a:cubicBezTo>
                  <a:lnTo>
                    <a:pt x="12700" y="25400"/>
                  </a:lnTo>
                  <a:cubicBezTo>
                    <a:pt x="5715" y="25400"/>
                    <a:pt x="0" y="19685"/>
                    <a:pt x="0" y="12700"/>
                  </a:cubicBezTo>
                  <a:close/>
                </a:path>
              </a:pathLst>
            </a:custGeom>
            <a:solidFill>
              <a:srgbClr val="545557"/>
            </a:solidFill>
          </p:spPr>
        </p:sp>
      </p:grpSp>
      <p:grpSp>
        <p:nvGrpSpPr>
          <p:cNvPr name="Group 9" id="9"/>
          <p:cNvGrpSpPr/>
          <p:nvPr/>
        </p:nvGrpSpPr>
        <p:grpSpPr>
          <a:xfrm rot="0">
            <a:off x="5955354" y="3021140"/>
            <a:ext cx="19050" cy="546344"/>
            <a:chOff x="0" y="0"/>
            <a:chExt cx="25400" cy="728459"/>
          </a:xfrm>
        </p:grpSpPr>
        <p:sp>
          <p:nvSpPr>
            <p:cNvPr name="Freeform 10" id="10"/>
            <p:cNvSpPr/>
            <p:nvPr/>
          </p:nvSpPr>
          <p:spPr>
            <a:xfrm flipH="false" flipV="false" rot="0">
              <a:off x="0" y="0"/>
              <a:ext cx="25400" cy="728472"/>
            </a:xfrm>
            <a:custGeom>
              <a:avLst/>
              <a:gdLst/>
              <a:ahLst/>
              <a:cxnLst/>
              <a:rect r="r" b="b" t="t" l="l"/>
              <a:pathLst>
                <a:path h="728472" w="25400">
                  <a:moveTo>
                    <a:pt x="0" y="12700"/>
                  </a:moveTo>
                  <a:cubicBezTo>
                    <a:pt x="0" y="5715"/>
                    <a:pt x="5715" y="0"/>
                    <a:pt x="12700" y="0"/>
                  </a:cubicBezTo>
                  <a:cubicBezTo>
                    <a:pt x="19685" y="0"/>
                    <a:pt x="25400" y="5715"/>
                    <a:pt x="25400" y="12700"/>
                  </a:cubicBezTo>
                  <a:lnTo>
                    <a:pt x="25400" y="715772"/>
                  </a:lnTo>
                  <a:cubicBezTo>
                    <a:pt x="25400" y="722757"/>
                    <a:pt x="19685" y="728472"/>
                    <a:pt x="12700" y="728472"/>
                  </a:cubicBezTo>
                  <a:cubicBezTo>
                    <a:pt x="5715" y="728472"/>
                    <a:pt x="0" y="722757"/>
                    <a:pt x="0" y="715772"/>
                  </a:cubicBezTo>
                  <a:close/>
                </a:path>
              </a:pathLst>
            </a:custGeom>
            <a:solidFill>
              <a:srgbClr val="545557"/>
            </a:solidFill>
          </p:spPr>
        </p:sp>
      </p:grpSp>
      <p:grpSp>
        <p:nvGrpSpPr>
          <p:cNvPr name="Group 11" id="11"/>
          <p:cNvGrpSpPr/>
          <p:nvPr/>
        </p:nvGrpSpPr>
        <p:grpSpPr>
          <a:xfrm rot="0">
            <a:off x="5760091" y="3362544"/>
            <a:ext cx="409727" cy="409727"/>
            <a:chOff x="0" y="0"/>
            <a:chExt cx="546303" cy="546303"/>
          </a:xfrm>
        </p:grpSpPr>
        <p:sp>
          <p:nvSpPr>
            <p:cNvPr name="Freeform 12" id="12"/>
            <p:cNvSpPr/>
            <p:nvPr/>
          </p:nvSpPr>
          <p:spPr>
            <a:xfrm flipH="false" flipV="false" rot="0">
              <a:off x="0" y="0"/>
              <a:ext cx="546354" cy="546354"/>
            </a:xfrm>
            <a:custGeom>
              <a:avLst/>
              <a:gdLst/>
              <a:ahLst/>
              <a:cxnLst/>
              <a:rect r="r" b="b" t="t" l="l"/>
              <a:pathLst>
                <a:path h="546354" w="546354">
                  <a:moveTo>
                    <a:pt x="0" y="36449"/>
                  </a:moveTo>
                  <a:cubicBezTo>
                    <a:pt x="0" y="16256"/>
                    <a:pt x="16256" y="0"/>
                    <a:pt x="36449" y="0"/>
                  </a:cubicBezTo>
                  <a:lnTo>
                    <a:pt x="509905" y="0"/>
                  </a:lnTo>
                  <a:cubicBezTo>
                    <a:pt x="529971" y="0"/>
                    <a:pt x="546354" y="16256"/>
                    <a:pt x="546354" y="36449"/>
                  </a:cubicBezTo>
                  <a:lnTo>
                    <a:pt x="546354" y="509905"/>
                  </a:lnTo>
                  <a:cubicBezTo>
                    <a:pt x="546354" y="529971"/>
                    <a:pt x="530098" y="546354"/>
                    <a:pt x="509905" y="546354"/>
                  </a:cubicBezTo>
                  <a:lnTo>
                    <a:pt x="36449" y="546354"/>
                  </a:lnTo>
                  <a:cubicBezTo>
                    <a:pt x="16256" y="546354"/>
                    <a:pt x="0" y="529971"/>
                    <a:pt x="0" y="509905"/>
                  </a:cubicBezTo>
                  <a:close/>
                </a:path>
              </a:pathLst>
            </a:custGeom>
            <a:solidFill>
              <a:srgbClr val="3B3C3E"/>
            </a:solidFill>
          </p:spPr>
        </p:sp>
      </p:grpSp>
      <p:sp>
        <p:nvSpPr>
          <p:cNvPr name="TextBox 13" id="13"/>
          <p:cNvSpPr txBox="true"/>
          <p:nvPr/>
        </p:nvSpPr>
        <p:spPr>
          <a:xfrm rot="0">
            <a:off x="5828328" y="3425209"/>
            <a:ext cx="273101" cy="312839"/>
          </a:xfrm>
          <a:prstGeom prst="rect">
            <a:avLst/>
          </a:prstGeom>
        </p:spPr>
        <p:txBody>
          <a:bodyPr anchor="t" rtlCol="false" tIns="0" lIns="0" bIns="0" rIns="0">
            <a:spAutoFit/>
          </a:bodyPr>
          <a:lstStyle/>
          <a:p>
            <a:pPr algn="ctr">
              <a:lnSpc>
                <a:spcPts val="2125"/>
              </a:lnSpc>
            </a:pPr>
            <a:r>
              <a:rPr lang="en-US" sz="2125" b="true">
                <a:solidFill>
                  <a:srgbClr val="C2C4B5"/>
                </a:solidFill>
                <a:latin typeface="Arimo Bold"/>
                <a:ea typeface="Arimo Bold"/>
                <a:cs typeface="Arimo Bold"/>
                <a:sym typeface="Arimo Bold"/>
              </a:rPr>
              <a:t>1</a:t>
            </a:r>
          </a:p>
        </p:txBody>
      </p:sp>
      <p:sp>
        <p:nvSpPr>
          <p:cNvPr name="TextBox 14" id="14"/>
          <p:cNvSpPr txBox="true"/>
          <p:nvPr/>
        </p:nvSpPr>
        <p:spPr>
          <a:xfrm rot="0">
            <a:off x="4667469" y="2047132"/>
            <a:ext cx="2321719" cy="293687"/>
          </a:xfrm>
          <a:prstGeom prst="rect">
            <a:avLst/>
          </a:prstGeom>
        </p:spPr>
        <p:txBody>
          <a:bodyPr anchor="t" rtlCol="false" tIns="0" lIns="0" bIns="0" rIns="0">
            <a:spAutoFit/>
          </a:bodyPr>
          <a:lstStyle/>
          <a:p>
            <a:pPr algn="ctr">
              <a:lnSpc>
                <a:spcPts val="2187"/>
              </a:lnSpc>
            </a:pPr>
            <a:r>
              <a:rPr lang="en-US" sz="1750" b="true">
                <a:solidFill>
                  <a:srgbClr val="C2C4B5"/>
                </a:solidFill>
                <a:latin typeface="Arimo Bold"/>
                <a:ea typeface="Arimo Bold"/>
                <a:cs typeface="Arimo Bold"/>
                <a:sym typeface="Arimo Bold"/>
              </a:rPr>
              <a:t>Q1 2026: CI/CD Native</a:t>
            </a:r>
          </a:p>
        </p:txBody>
      </p:sp>
      <p:sp>
        <p:nvSpPr>
          <p:cNvPr name="TextBox 15" id="15"/>
          <p:cNvSpPr txBox="true"/>
          <p:nvPr/>
        </p:nvSpPr>
        <p:spPr>
          <a:xfrm rot="0">
            <a:off x="3041304" y="2331691"/>
            <a:ext cx="5847455" cy="507206"/>
          </a:xfrm>
          <a:prstGeom prst="rect">
            <a:avLst/>
          </a:prstGeom>
        </p:spPr>
        <p:txBody>
          <a:bodyPr anchor="t" rtlCol="false" tIns="0" lIns="0" bIns="0" rIns="0">
            <a:spAutoFit/>
          </a:bodyPr>
          <a:lstStyle/>
          <a:p>
            <a:pPr algn="ctr">
              <a:lnSpc>
                <a:spcPts val="1875"/>
              </a:lnSpc>
            </a:pPr>
            <a:r>
              <a:rPr lang="en-US" sz="1375">
                <a:solidFill>
                  <a:srgbClr val="C2C4B5"/>
                </a:solidFill>
                <a:latin typeface="Bitter"/>
                <a:ea typeface="Bitter"/>
                <a:cs typeface="Bitter"/>
                <a:sym typeface="Bitter"/>
              </a:rPr>
              <a:t>Seamless integration with Jenkins, GitHub Actions, and GitLab pipelines for automated gate-keeping.</a:t>
            </a:r>
          </a:p>
        </p:txBody>
      </p:sp>
      <p:grpSp>
        <p:nvGrpSpPr>
          <p:cNvPr name="Group 16" id="16"/>
          <p:cNvGrpSpPr/>
          <p:nvPr/>
        </p:nvGrpSpPr>
        <p:grpSpPr>
          <a:xfrm rot="0">
            <a:off x="9134180" y="3567332"/>
            <a:ext cx="19050" cy="546344"/>
            <a:chOff x="0" y="0"/>
            <a:chExt cx="25400" cy="728459"/>
          </a:xfrm>
        </p:grpSpPr>
        <p:sp>
          <p:nvSpPr>
            <p:cNvPr name="Freeform 17" id="17"/>
            <p:cNvSpPr/>
            <p:nvPr/>
          </p:nvSpPr>
          <p:spPr>
            <a:xfrm flipH="false" flipV="false" rot="0">
              <a:off x="0" y="0"/>
              <a:ext cx="25400" cy="728472"/>
            </a:xfrm>
            <a:custGeom>
              <a:avLst/>
              <a:gdLst/>
              <a:ahLst/>
              <a:cxnLst/>
              <a:rect r="r" b="b" t="t" l="l"/>
              <a:pathLst>
                <a:path h="728472" w="25400">
                  <a:moveTo>
                    <a:pt x="0" y="12700"/>
                  </a:moveTo>
                  <a:cubicBezTo>
                    <a:pt x="0" y="5715"/>
                    <a:pt x="5715" y="0"/>
                    <a:pt x="12700" y="0"/>
                  </a:cubicBezTo>
                  <a:cubicBezTo>
                    <a:pt x="19685" y="0"/>
                    <a:pt x="25400" y="5715"/>
                    <a:pt x="25400" y="12700"/>
                  </a:cubicBezTo>
                  <a:lnTo>
                    <a:pt x="25400" y="715772"/>
                  </a:lnTo>
                  <a:cubicBezTo>
                    <a:pt x="25400" y="722757"/>
                    <a:pt x="19685" y="728472"/>
                    <a:pt x="12700" y="728472"/>
                  </a:cubicBezTo>
                  <a:cubicBezTo>
                    <a:pt x="5715" y="728472"/>
                    <a:pt x="0" y="722757"/>
                    <a:pt x="0" y="715772"/>
                  </a:cubicBezTo>
                  <a:close/>
                </a:path>
              </a:pathLst>
            </a:custGeom>
            <a:solidFill>
              <a:srgbClr val="545557"/>
            </a:solidFill>
          </p:spPr>
        </p:sp>
      </p:grpSp>
      <p:grpSp>
        <p:nvGrpSpPr>
          <p:cNvPr name="Group 18" id="18"/>
          <p:cNvGrpSpPr/>
          <p:nvPr/>
        </p:nvGrpSpPr>
        <p:grpSpPr>
          <a:xfrm rot="0">
            <a:off x="8938917" y="3362544"/>
            <a:ext cx="409727" cy="409727"/>
            <a:chOff x="0" y="0"/>
            <a:chExt cx="546303" cy="546303"/>
          </a:xfrm>
        </p:grpSpPr>
        <p:sp>
          <p:nvSpPr>
            <p:cNvPr name="Freeform 19" id="19"/>
            <p:cNvSpPr/>
            <p:nvPr/>
          </p:nvSpPr>
          <p:spPr>
            <a:xfrm flipH="false" flipV="false" rot="0">
              <a:off x="0" y="0"/>
              <a:ext cx="546354" cy="546354"/>
            </a:xfrm>
            <a:custGeom>
              <a:avLst/>
              <a:gdLst/>
              <a:ahLst/>
              <a:cxnLst/>
              <a:rect r="r" b="b" t="t" l="l"/>
              <a:pathLst>
                <a:path h="546354" w="546354">
                  <a:moveTo>
                    <a:pt x="0" y="36449"/>
                  </a:moveTo>
                  <a:cubicBezTo>
                    <a:pt x="0" y="16256"/>
                    <a:pt x="16256" y="0"/>
                    <a:pt x="36449" y="0"/>
                  </a:cubicBezTo>
                  <a:lnTo>
                    <a:pt x="509905" y="0"/>
                  </a:lnTo>
                  <a:cubicBezTo>
                    <a:pt x="529971" y="0"/>
                    <a:pt x="546354" y="16256"/>
                    <a:pt x="546354" y="36449"/>
                  </a:cubicBezTo>
                  <a:lnTo>
                    <a:pt x="546354" y="509905"/>
                  </a:lnTo>
                  <a:cubicBezTo>
                    <a:pt x="546354" y="529971"/>
                    <a:pt x="530098" y="546354"/>
                    <a:pt x="509905" y="546354"/>
                  </a:cubicBezTo>
                  <a:lnTo>
                    <a:pt x="36449" y="546354"/>
                  </a:lnTo>
                  <a:cubicBezTo>
                    <a:pt x="16256" y="546354"/>
                    <a:pt x="0" y="529971"/>
                    <a:pt x="0" y="509905"/>
                  </a:cubicBezTo>
                  <a:close/>
                </a:path>
              </a:pathLst>
            </a:custGeom>
            <a:solidFill>
              <a:srgbClr val="3B3C3E"/>
            </a:solidFill>
          </p:spPr>
        </p:sp>
      </p:grpSp>
      <p:sp>
        <p:nvSpPr>
          <p:cNvPr name="TextBox 20" id="20"/>
          <p:cNvSpPr txBox="true"/>
          <p:nvPr/>
        </p:nvSpPr>
        <p:spPr>
          <a:xfrm rot="0">
            <a:off x="9007154" y="3425209"/>
            <a:ext cx="273101" cy="312839"/>
          </a:xfrm>
          <a:prstGeom prst="rect">
            <a:avLst/>
          </a:prstGeom>
        </p:spPr>
        <p:txBody>
          <a:bodyPr anchor="t" rtlCol="false" tIns="0" lIns="0" bIns="0" rIns="0">
            <a:spAutoFit/>
          </a:bodyPr>
          <a:lstStyle/>
          <a:p>
            <a:pPr algn="ctr">
              <a:lnSpc>
                <a:spcPts val="2125"/>
              </a:lnSpc>
            </a:pPr>
            <a:r>
              <a:rPr lang="en-US" sz="2125" b="true">
                <a:solidFill>
                  <a:srgbClr val="C2C4B5"/>
                </a:solidFill>
                <a:latin typeface="Arimo Bold"/>
                <a:ea typeface="Arimo Bold"/>
                <a:cs typeface="Arimo Bold"/>
                <a:sym typeface="Arimo Bold"/>
              </a:rPr>
              <a:t>2</a:t>
            </a:r>
          </a:p>
        </p:txBody>
      </p:sp>
      <p:sp>
        <p:nvSpPr>
          <p:cNvPr name="TextBox 21" id="21"/>
          <p:cNvSpPr txBox="true"/>
          <p:nvPr/>
        </p:nvSpPr>
        <p:spPr>
          <a:xfrm rot="0">
            <a:off x="7581502" y="4267352"/>
            <a:ext cx="3124557" cy="293687"/>
          </a:xfrm>
          <a:prstGeom prst="rect">
            <a:avLst/>
          </a:prstGeom>
        </p:spPr>
        <p:txBody>
          <a:bodyPr anchor="t" rtlCol="false" tIns="0" lIns="0" bIns="0" rIns="0">
            <a:spAutoFit/>
          </a:bodyPr>
          <a:lstStyle/>
          <a:p>
            <a:pPr algn="ctr">
              <a:lnSpc>
                <a:spcPts val="2187"/>
              </a:lnSpc>
            </a:pPr>
            <a:r>
              <a:rPr lang="en-US" sz="1750" b="true">
                <a:solidFill>
                  <a:srgbClr val="C2C4B5"/>
                </a:solidFill>
                <a:latin typeface="Arimo Bold"/>
                <a:ea typeface="Arimo Bold"/>
                <a:cs typeface="Arimo Bold"/>
                <a:sym typeface="Arimo Bold"/>
              </a:rPr>
              <a:t>Q2 2026: Repository Analysis</a:t>
            </a:r>
          </a:p>
        </p:txBody>
      </p:sp>
      <p:sp>
        <p:nvSpPr>
          <p:cNvPr name="TextBox 22" id="22"/>
          <p:cNvSpPr txBox="true"/>
          <p:nvPr/>
        </p:nvSpPr>
        <p:spPr>
          <a:xfrm rot="0">
            <a:off x="6220120" y="4622006"/>
            <a:ext cx="5847455" cy="507206"/>
          </a:xfrm>
          <a:prstGeom prst="rect">
            <a:avLst/>
          </a:prstGeom>
        </p:spPr>
        <p:txBody>
          <a:bodyPr anchor="t" rtlCol="false" tIns="0" lIns="0" bIns="0" rIns="0">
            <a:spAutoFit/>
          </a:bodyPr>
          <a:lstStyle/>
          <a:p>
            <a:pPr algn="ctr">
              <a:lnSpc>
                <a:spcPts val="1875"/>
              </a:lnSpc>
            </a:pPr>
            <a:r>
              <a:rPr lang="en-US" sz="1375">
                <a:solidFill>
                  <a:srgbClr val="C2C4B5"/>
                </a:solidFill>
                <a:latin typeface="Bitter"/>
                <a:ea typeface="Bitter"/>
                <a:cs typeface="Bitter"/>
                <a:sym typeface="Bitter"/>
              </a:rPr>
              <a:t>Multi-file dependency tracking, cross-module vulnerability detection, and architectural pattern recognition.</a:t>
            </a:r>
          </a:p>
        </p:txBody>
      </p:sp>
      <p:grpSp>
        <p:nvGrpSpPr>
          <p:cNvPr name="Group 23" id="23"/>
          <p:cNvGrpSpPr/>
          <p:nvPr/>
        </p:nvGrpSpPr>
        <p:grpSpPr>
          <a:xfrm rot="0">
            <a:off x="12312996" y="3021140"/>
            <a:ext cx="19050" cy="546344"/>
            <a:chOff x="0" y="0"/>
            <a:chExt cx="25400" cy="728459"/>
          </a:xfrm>
        </p:grpSpPr>
        <p:sp>
          <p:nvSpPr>
            <p:cNvPr name="Freeform 24" id="24"/>
            <p:cNvSpPr/>
            <p:nvPr/>
          </p:nvSpPr>
          <p:spPr>
            <a:xfrm flipH="false" flipV="false" rot="0">
              <a:off x="0" y="0"/>
              <a:ext cx="25400" cy="728472"/>
            </a:xfrm>
            <a:custGeom>
              <a:avLst/>
              <a:gdLst/>
              <a:ahLst/>
              <a:cxnLst/>
              <a:rect r="r" b="b" t="t" l="l"/>
              <a:pathLst>
                <a:path h="728472" w="25400">
                  <a:moveTo>
                    <a:pt x="0" y="12700"/>
                  </a:moveTo>
                  <a:cubicBezTo>
                    <a:pt x="0" y="5715"/>
                    <a:pt x="5715" y="0"/>
                    <a:pt x="12700" y="0"/>
                  </a:cubicBezTo>
                  <a:cubicBezTo>
                    <a:pt x="19685" y="0"/>
                    <a:pt x="25400" y="5715"/>
                    <a:pt x="25400" y="12700"/>
                  </a:cubicBezTo>
                  <a:lnTo>
                    <a:pt x="25400" y="715772"/>
                  </a:lnTo>
                  <a:cubicBezTo>
                    <a:pt x="25400" y="722757"/>
                    <a:pt x="19685" y="728472"/>
                    <a:pt x="12700" y="728472"/>
                  </a:cubicBezTo>
                  <a:cubicBezTo>
                    <a:pt x="5715" y="728472"/>
                    <a:pt x="0" y="722757"/>
                    <a:pt x="0" y="715772"/>
                  </a:cubicBezTo>
                  <a:close/>
                </a:path>
              </a:pathLst>
            </a:custGeom>
            <a:solidFill>
              <a:srgbClr val="545557"/>
            </a:solidFill>
          </p:spPr>
        </p:sp>
      </p:grpSp>
      <p:grpSp>
        <p:nvGrpSpPr>
          <p:cNvPr name="Group 25" id="25"/>
          <p:cNvGrpSpPr/>
          <p:nvPr/>
        </p:nvGrpSpPr>
        <p:grpSpPr>
          <a:xfrm rot="0">
            <a:off x="12117734" y="3362544"/>
            <a:ext cx="409727" cy="409727"/>
            <a:chOff x="0" y="0"/>
            <a:chExt cx="546303" cy="546303"/>
          </a:xfrm>
        </p:grpSpPr>
        <p:sp>
          <p:nvSpPr>
            <p:cNvPr name="Freeform 26" id="26"/>
            <p:cNvSpPr/>
            <p:nvPr/>
          </p:nvSpPr>
          <p:spPr>
            <a:xfrm flipH="false" flipV="false" rot="0">
              <a:off x="0" y="0"/>
              <a:ext cx="546354" cy="546354"/>
            </a:xfrm>
            <a:custGeom>
              <a:avLst/>
              <a:gdLst/>
              <a:ahLst/>
              <a:cxnLst/>
              <a:rect r="r" b="b" t="t" l="l"/>
              <a:pathLst>
                <a:path h="546354" w="546354">
                  <a:moveTo>
                    <a:pt x="0" y="36449"/>
                  </a:moveTo>
                  <a:cubicBezTo>
                    <a:pt x="0" y="16256"/>
                    <a:pt x="16256" y="0"/>
                    <a:pt x="36449" y="0"/>
                  </a:cubicBezTo>
                  <a:lnTo>
                    <a:pt x="509905" y="0"/>
                  </a:lnTo>
                  <a:cubicBezTo>
                    <a:pt x="529971" y="0"/>
                    <a:pt x="546354" y="16256"/>
                    <a:pt x="546354" y="36449"/>
                  </a:cubicBezTo>
                  <a:lnTo>
                    <a:pt x="546354" y="509905"/>
                  </a:lnTo>
                  <a:cubicBezTo>
                    <a:pt x="546354" y="529971"/>
                    <a:pt x="530098" y="546354"/>
                    <a:pt x="509905" y="546354"/>
                  </a:cubicBezTo>
                  <a:lnTo>
                    <a:pt x="36449" y="546354"/>
                  </a:lnTo>
                  <a:cubicBezTo>
                    <a:pt x="16256" y="546354"/>
                    <a:pt x="0" y="529971"/>
                    <a:pt x="0" y="509905"/>
                  </a:cubicBezTo>
                  <a:close/>
                </a:path>
              </a:pathLst>
            </a:custGeom>
            <a:solidFill>
              <a:srgbClr val="3B3C3E"/>
            </a:solidFill>
          </p:spPr>
        </p:sp>
      </p:grpSp>
      <p:sp>
        <p:nvSpPr>
          <p:cNvPr name="TextBox 27" id="27"/>
          <p:cNvSpPr txBox="true"/>
          <p:nvPr/>
        </p:nvSpPr>
        <p:spPr>
          <a:xfrm rot="0">
            <a:off x="12185971" y="3425209"/>
            <a:ext cx="273101" cy="312839"/>
          </a:xfrm>
          <a:prstGeom prst="rect">
            <a:avLst/>
          </a:prstGeom>
        </p:spPr>
        <p:txBody>
          <a:bodyPr anchor="t" rtlCol="false" tIns="0" lIns="0" bIns="0" rIns="0">
            <a:spAutoFit/>
          </a:bodyPr>
          <a:lstStyle/>
          <a:p>
            <a:pPr algn="ctr">
              <a:lnSpc>
                <a:spcPts val="2125"/>
              </a:lnSpc>
            </a:pPr>
            <a:r>
              <a:rPr lang="en-US" sz="2125" b="true">
                <a:solidFill>
                  <a:srgbClr val="C2C4B5"/>
                </a:solidFill>
                <a:latin typeface="Arimo Bold"/>
                <a:ea typeface="Arimo Bold"/>
                <a:cs typeface="Arimo Bold"/>
                <a:sym typeface="Arimo Bold"/>
              </a:rPr>
              <a:t>3</a:t>
            </a:r>
          </a:p>
        </p:txBody>
      </p:sp>
      <p:sp>
        <p:nvSpPr>
          <p:cNvPr name="TextBox 28" id="28"/>
          <p:cNvSpPr txBox="true"/>
          <p:nvPr/>
        </p:nvSpPr>
        <p:spPr>
          <a:xfrm rot="0">
            <a:off x="10847322" y="1977028"/>
            <a:ext cx="2950845" cy="293687"/>
          </a:xfrm>
          <a:prstGeom prst="rect">
            <a:avLst/>
          </a:prstGeom>
        </p:spPr>
        <p:txBody>
          <a:bodyPr anchor="t" rtlCol="false" tIns="0" lIns="0" bIns="0" rIns="0">
            <a:spAutoFit/>
          </a:bodyPr>
          <a:lstStyle/>
          <a:p>
            <a:pPr algn="ctr">
              <a:lnSpc>
                <a:spcPts val="2187"/>
              </a:lnSpc>
            </a:pPr>
            <a:r>
              <a:rPr lang="en-US" sz="1750" b="true">
                <a:solidFill>
                  <a:srgbClr val="C2C4B5"/>
                </a:solidFill>
                <a:latin typeface="Arimo Bold"/>
                <a:ea typeface="Arimo Bold"/>
                <a:cs typeface="Arimo Bold"/>
                <a:sym typeface="Arimo Bold"/>
              </a:rPr>
              <a:t>Q3 2026: Intelligent Co-Pilot</a:t>
            </a:r>
          </a:p>
        </p:txBody>
      </p:sp>
      <p:sp>
        <p:nvSpPr>
          <p:cNvPr name="TextBox 29" id="29"/>
          <p:cNvSpPr txBox="true"/>
          <p:nvPr/>
        </p:nvSpPr>
        <p:spPr>
          <a:xfrm rot="0">
            <a:off x="9398946" y="2331691"/>
            <a:ext cx="5847607" cy="507206"/>
          </a:xfrm>
          <a:prstGeom prst="rect">
            <a:avLst/>
          </a:prstGeom>
        </p:spPr>
        <p:txBody>
          <a:bodyPr anchor="t" rtlCol="false" tIns="0" lIns="0" bIns="0" rIns="0">
            <a:spAutoFit/>
          </a:bodyPr>
          <a:lstStyle/>
          <a:p>
            <a:pPr algn="ctr">
              <a:lnSpc>
                <a:spcPts val="1875"/>
              </a:lnSpc>
            </a:pPr>
            <a:r>
              <a:rPr lang="en-US" sz="1375">
                <a:solidFill>
                  <a:srgbClr val="C2C4B5"/>
                </a:solidFill>
                <a:latin typeface="Bitter"/>
                <a:ea typeface="Bitter"/>
                <a:cs typeface="Bitter"/>
                <a:sym typeface="Bitter"/>
              </a:rPr>
              <a:t>Predictive coding assistance that writes secure, optimized code alongside developers in real-time.</a:t>
            </a:r>
          </a:p>
        </p:txBody>
      </p:sp>
      <p:grpSp>
        <p:nvGrpSpPr>
          <p:cNvPr name="Group 30" id="30"/>
          <p:cNvGrpSpPr/>
          <p:nvPr/>
        </p:nvGrpSpPr>
        <p:grpSpPr>
          <a:xfrm rot="0">
            <a:off x="2859291" y="5351707"/>
            <a:ext cx="12569276" cy="32147"/>
            <a:chOff x="0" y="0"/>
            <a:chExt cx="16759034" cy="42862"/>
          </a:xfrm>
        </p:grpSpPr>
        <p:sp>
          <p:nvSpPr>
            <p:cNvPr name="Freeform 31" id="31"/>
            <p:cNvSpPr/>
            <p:nvPr/>
          </p:nvSpPr>
          <p:spPr>
            <a:xfrm flipH="false" flipV="false" rot="0">
              <a:off x="0" y="0"/>
              <a:ext cx="16759047" cy="42926"/>
            </a:xfrm>
            <a:custGeom>
              <a:avLst/>
              <a:gdLst/>
              <a:ahLst/>
              <a:cxnLst/>
              <a:rect r="r" b="b" t="t" l="l"/>
              <a:pathLst>
                <a:path h="42926" w="16759047">
                  <a:moveTo>
                    <a:pt x="0" y="0"/>
                  </a:moveTo>
                  <a:lnTo>
                    <a:pt x="16759047" y="0"/>
                  </a:lnTo>
                  <a:lnTo>
                    <a:pt x="16759047" y="42926"/>
                  </a:lnTo>
                  <a:lnTo>
                    <a:pt x="0" y="42926"/>
                  </a:lnTo>
                  <a:close/>
                </a:path>
              </a:pathLst>
            </a:custGeom>
            <a:solidFill>
              <a:srgbClr val="C2C4B5">
                <a:alpha val="24706"/>
              </a:srgbClr>
            </a:solidFill>
          </p:spPr>
        </p:sp>
      </p:grpSp>
      <p:sp>
        <p:nvSpPr>
          <p:cNvPr name="TextBox 32" id="32"/>
          <p:cNvSpPr txBox="true"/>
          <p:nvPr/>
        </p:nvSpPr>
        <p:spPr>
          <a:xfrm rot="0">
            <a:off x="2859291" y="5511556"/>
            <a:ext cx="12569276" cy="1565275"/>
          </a:xfrm>
          <a:prstGeom prst="rect">
            <a:avLst/>
          </a:prstGeom>
        </p:spPr>
        <p:txBody>
          <a:bodyPr anchor="t" rtlCol="false" tIns="0" lIns="0" bIns="0" rIns="0">
            <a:spAutoFit/>
          </a:bodyPr>
          <a:lstStyle/>
          <a:p>
            <a:pPr algn="l">
              <a:lnSpc>
                <a:spcPts val="6125"/>
              </a:lnSpc>
            </a:pPr>
            <a:r>
              <a:rPr lang="en-US" sz="4937" b="true">
                <a:solidFill>
                  <a:srgbClr val="E1E5CD"/>
                </a:solidFill>
                <a:latin typeface="Arimo Bold"/>
                <a:ea typeface="Arimo Bold"/>
                <a:cs typeface="Arimo Bold"/>
                <a:sym typeface="Arimo Bold"/>
              </a:rPr>
              <a:t>"Making bugs a thing of the past, one commit at a time"</a:t>
            </a:r>
          </a:p>
        </p:txBody>
      </p:sp>
      <p:grpSp>
        <p:nvGrpSpPr>
          <p:cNvPr name="Group 33" id="33"/>
          <p:cNvGrpSpPr/>
          <p:nvPr/>
        </p:nvGrpSpPr>
        <p:grpSpPr>
          <a:xfrm rot="0">
            <a:off x="2859291" y="7396610"/>
            <a:ext cx="12569276" cy="32147"/>
            <a:chOff x="0" y="0"/>
            <a:chExt cx="16759034" cy="42862"/>
          </a:xfrm>
        </p:grpSpPr>
        <p:sp>
          <p:nvSpPr>
            <p:cNvPr name="Freeform 34" id="34"/>
            <p:cNvSpPr/>
            <p:nvPr/>
          </p:nvSpPr>
          <p:spPr>
            <a:xfrm flipH="false" flipV="false" rot="0">
              <a:off x="0" y="0"/>
              <a:ext cx="16759047" cy="42926"/>
            </a:xfrm>
            <a:custGeom>
              <a:avLst/>
              <a:gdLst/>
              <a:ahLst/>
              <a:cxnLst/>
              <a:rect r="r" b="b" t="t" l="l"/>
              <a:pathLst>
                <a:path h="42926" w="16759047">
                  <a:moveTo>
                    <a:pt x="0" y="0"/>
                  </a:moveTo>
                  <a:lnTo>
                    <a:pt x="16759047" y="0"/>
                  </a:lnTo>
                  <a:lnTo>
                    <a:pt x="16759047" y="42926"/>
                  </a:lnTo>
                  <a:lnTo>
                    <a:pt x="0" y="42926"/>
                  </a:lnTo>
                  <a:close/>
                </a:path>
              </a:pathLst>
            </a:custGeom>
            <a:solidFill>
              <a:srgbClr val="C2C4B5">
                <a:alpha val="24706"/>
              </a:srgbClr>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514089" cy="10287000"/>
            <a:chOff x="0" y="0"/>
            <a:chExt cx="24384000" cy="13548504"/>
          </a:xfrm>
        </p:grpSpPr>
        <p:sp>
          <p:nvSpPr>
            <p:cNvPr name="Freeform 3" id="3"/>
            <p:cNvSpPr/>
            <p:nvPr/>
          </p:nvSpPr>
          <p:spPr>
            <a:xfrm flipH="false" flipV="false" rot="0">
              <a:off x="0" y="0"/>
              <a:ext cx="24384000" cy="13548505"/>
            </a:xfrm>
            <a:custGeom>
              <a:avLst/>
              <a:gdLst/>
              <a:ahLst/>
              <a:cxnLst/>
              <a:rect r="r" b="b" t="t" l="l"/>
              <a:pathLst>
                <a:path h="13548505" w="24384000">
                  <a:moveTo>
                    <a:pt x="0" y="0"/>
                  </a:moveTo>
                  <a:lnTo>
                    <a:pt x="24384000" y="0"/>
                  </a:lnTo>
                  <a:lnTo>
                    <a:pt x="24384000" y="13548505"/>
                  </a:lnTo>
                  <a:lnTo>
                    <a:pt x="0" y="13548505"/>
                  </a:lnTo>
                  <a:close/>
                </a:path>
              </a:pathLst>
            </a:custGeom>
            <a:blipFill>
              <a:blip r:embed="rId3"/>
              <a:stretch>
                <a:fillRect l="0" t="-654" r="-799" b="-1674"/>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3753" y="0"/>
            <a:ext cx="18680028" cy="10693117"/>
            <a:chOff x="0" y="0"/>
            <a:chExt cx="26628936" cy="15243356"/>
          </a:xfrm>
        </p:grpSpPr>
        <p:sp>
          <p:nvSpPr>
            <p:cNvPr name="Freeform 3" id="3"/>
            <p:cNvSpPr/>
            <p:nvPr/>
          </p:nvSpPr>
          <p:spPr>
            <a:xfrm flipH="false" flipV="false" rot="0">
              <a:off x="0" y="0"/>
              <a:ext cx="26628936" cy="15243356"/>
            </a:xfrm>
            <a:custGeom>
              <a:avLst/>
              <a:gdLst/>
              <a:ahLst/>
              <a:cxnLst/>
              <a:rect r="r" b="b" t="t" l="l"/>
              <a:pathLst>
                <a:path h="15243356" w="26628936">
                  <a:moveTo>
                    <a:pt x="0" y="0"/>
                  </a:moveTo>
                  <a:lnTo>
                    <a:pt x="26628936" y="0"/>
                  </a:lnTo>
                  <a:lnTo>
                    <a:pt x="26628936" y="15243356"/>
                  </a:lnTo>
                  <a:lnTo>
                    <a:pt x="0" y="15243356"/>
                  </a:lnTo>
                  <a:close/>
                </a:path>
              </a:pathLst>
            </a:custGeom>
            <a:blipFill>
              <a:blip r:embed="rId3"/>
              <a:stretch>
                <a:fillRect l="-780" t="0" r="-780" b="0"/>
              </a:stretch>
            </a:blipFill>
          </p:spPr>
        </p:sp>
      </p:grpSp>
      <p:sp>
        <p:nvSpPr>
          <p:cNvPr name="TextBox 4" id="4"/>
          <p:cNvSpPr txBox="true"/>
          <p:nvPr/>
        </p:nvSpPr>
        <p:spPr>
          <a:xfrm rot="0">
            <a:off x="7425958" y="125621"/>
            <a:ext cx="2208520" cy="676990"/>
          </a:xfrm>
          <a:prstGeom prst="rect">
            <a:avLst/>
          </a:prstGeom>
        </p:spPr>
        <p:txBody>
          <a:bodyPr anchor="t" rtlCol="false" tIns="0" lIns="0" bIns="0" rIns="0">
            <a:spAutoFit/>
          </a:bodyPr>
          <a:lstStyle/>
          <a:p>
            <a:pPr algn="ctr">
              <a:lnSpc>
                <a:spcPts val="5259"/>
              </a:lnSpc>
              <a:spcBef>
                <a:spcPct val="0"/>
              </a:spcBef>
            </a:pPr>
            <a:r>
              <a:rPr lang="en-US" b="true" sz="4230">
                <a:solidFill>
                  <a:srgbClr val="FFFFFF"/>
                </a:solidFill>
                <a:latin typeface="Arimo Bold"/>
                <a:ea typeface="Arimo Bold"/>
                <a:cs typeface="Arimo Bold"/>
                <a:sym typeface="Arimo Bold"/>
              </a:rPr>
              <a:t>OUTPUT</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26089" y="-397571"/>
            <a:ext cx="18514089" cy="11573854"/>
            <a:chOff x="0" y="0"/>
            <a:chExt cx="24384000" cy="15243356"/>
          </a:xfrm>
        </p:grpSpPr>
        <p:sp>
          <p:nvSpPr>
            <p:cNvPr name="Freeform 3" id="3"/>
            <p:cNvSpPr/>
            <p:nvPr/>
          </p:nvSpPr>
          <p:spPr>
            <a:xfrm flipH="false" flipV="false" rot="0">
              <a:off x="0" y="0"/>
              <a:ext cx="24384000" cy="15243356"/>
            </a:xfrm>
            <a:custGeom>
              <a:avLst/>
              <a:gdLst/>
              <a:ahLst/>
              <a:cxnLst/>
              <a:rect r="r" b="b" t="t" l="l"/>
              <a:pathLst>
                <a:path h="15243356" w="24384000">
                  <a:moveTo>
                    <a:pt x="0" y="0"/>
                  </a:moveTo>
                  <a:lnTo>
                    <a:pt x="24384000" y="0"/>
                  </a:lnTo>
                  <a:lnTo>
                    <a:pt x="24384000" y="15243356"/>
                  </a:lnTo>
                  <a:lnTo>
                    <a:pt x="0" y="15243356"/>
                  </a:lnTo>
                  <a:close/>
                </a:path>
              </a:pathLst>
            </a:custGeom>
            <a:solidFill>
              <a:srgbClr val="0B1012"/>
            </a:solidFill>
          </p:spPr>
        </p:sp>
      </p:grpSp>
      <p:sp>
        <p:nvSpPr>
          <p:cNvPr name="TextBox 4" id="4"/>
          <p:cNvSpPr txBox="true"/>
          <p:nvPr/>
        </p:nvSpPr>
        <p:spPr>
          <a:xfrm rot="0">
            <a:off x="4722566" y="3200960"/>
            <a:ext cx="9941362" cy="2401603"/>
          </a:xfrm>
          <a:prstGeom prst="rect">
            <a:avLst/>
          </a:prstGeom>
        </p:spPr>
        <p:txBody>
          <a:bodyPr anchor="t" rtlCol="false" tIns="0" lIns="0" bIns="0" rIns="0">
            <a:spAutoFit/>
          </a:bodyPr>
          <a:lstStyle/>
          <a:p>
            <a:pPr algn="ctr">
              <a:lnSpc>
                <a:spcPts val="19112"/>
              </a:lnSpc>
              <a:spcBef>
                <a:spcPct val="0"/>
              </a:spcBef>
            </a:pPr>
            <a:r>
              <a:rPr lang="en-US" sz="15373">
                <a:solidFill>
                  <a:srgbClr val="FFFFFF"/>
                </a:solidFill>
                <a:latin typeface="Amsterdam Four"/>
                <a:ea typeface="Amsterdam Four"/>
                <a:cs typeface="Amsterdam Four"/>
                <a:sym typeface="Amsterdam Four"/>
              </a:rPr>
              <a:t>Thank you! 🚀</a:t>
            </a:r>
          </a:p>
        </p:txBody>
      </p:sp>
      <p:sp>
        <p:nvSpPr>
          <p:cNvPr name="TextBox 5" id="5"/>
          <p:cNvSpPr txBox="true"/>
          <p:nvPr/>
        </p:nvSpPr>
        <p:spPr>
          <a:xfrm rot="0">
            <a:off x="13499120" y="8859228"/>
            <a:ext cx="5007155" cy="1202039"/>
          </a:xfrm>
          <a:prstGeom prst="rect">
            <a:avLst/>
          </a:prstGeom>
        </p:spPr>
        <p:txBody>
          <a:bodyPr anchor="t" rtlCol="false" tIns="0" lIns="0" bIns="0" rIns="0">
            <a:spAutoFit/>
          </a:bodyPr>
          <a:lstStyle/>
          <a:p>
            <a:pPr algn="ctr">
              <a:lnSpc>
                <a:spcPts val="4666"/>
              </a:lnSpc>
              <a:spcBef>
                <a:spcPct val="0"/>
              </a:spcBef>
            </a:pPr>
            <a:r>
              <a:rPr lang="en-US" b="true" sz="3753">
                <a:solidFill>
                  <a:srgbClr val="FFFFFF"/>
                </a:solidFill>
                <a:latin typeface="Arimo Bold"/>
                <a:ea typeface="Arimo Bold"/>
                <a:cs typeface="Arimo Bold"/>
                <a:sym typeface="Arimo Bold"/>
              </a:rPr>
              <a:t>Team: ZeroBugAuthority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DAHBCdIEd4w</dc:identifier>
  <dcterms:modified xsi:type="dcterms:W3CDTF">2011-08-01T06:04:30Z</dcterms:modified>
  <cp:revision>1</cp:revision>
  <dc:title>CodeRefine-The-Future-of-Autonomous-Code-Review.pptx</dc:title>
</cp:coreProperties>
</file>